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7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0"/>
    <p:restoredTop sz="90199"/>
  </p:normalViewPr>
  <p:slideViewPr>
    <p:cSldViewPr snapToGrid="0" snapToObjects="1">
      <p:cViewPr varScale="1">
        <p:scale>
          <a:sx n="91" d="100"/>
          <a:sy n="91" d="100"/>
        </p:scale>
        <p:origin x="1808" y="4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data.gov.sg/collections/189/view" TargetMode="External"/><Relationship Id="rId7" Type="http://schemas.openxmlformats.org/officeDocument/2006/relationships/image" Target="../media/image4.svg"/><Relationship Id="rId2" Type="http://schemas.openxmlformats.org/officeDocument/2006/relationships/hyperlink" Target="https://www.ica.gov.sg/news-and-publications/statistics" TargetMode="External"/><Relationship Id="rId1" Type="http://schemas.openxmlformats.org/officeDocument/2006/relationships/hyperlink" Target="https://data.gov.sg/datasets/d_e39eeaeadb571c0d0725ef1eec48d166/view" TargetMode="External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5" Type="http://schemas.openxmlformats.org/officeDocument/2006/relationships/image" Target="../media/image2.sv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hyperlink" Target="https://data.gov.sg/datasets/d_e39eeaeadb571c0d0725ef1eec48d166/view" TargetMode="External"/><Relationship Id="rId7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hyperlink" Target="https://www.ica.gov.sg/news-and-publications/statistics" TargetMode="External"/><Relationship Id="rId11" Type="http://schemas.openxmlformats.org/officeDocument/2006/relationships/image" Target="../media/image8.svg"/><Relationship Id="rId5" Type="http://schemas.openxmlformats.org/officeDocument/2006/relationships/image" Target="../media/image4.sv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hyperlink" Target="https://data.gov.sg/collections/189/view" TargetMode="External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4422CF-7708-49B4-91BD-BDEBABE97236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85D45D9-0E62-4CD6-937A-F79B6199AC84}">
      <dgm:prSet/>
      <dgm:spPr/>
      <dgm:t>
        <a:bodyPr/>
        <a:lstStyle/>
        <a:p>
          <a:r>
            <a:rPr lang="en-US"/>
            <a:t>How Birth Rates, Immigration, and Housing Trends Shape Singapore’s Future</a:t>
          </a:r>
        </a:p>
      </dgm:t>
    </dgm:pt>
    <dgm:pt modelId="{4A795D42-D13E-4F05-BF54-B155D715E283}" type="parTrans" cxnId="{49C269E5-CC25-4217-AB54-E421EC86987F}">
      <dgm:prSet/>
      <dgm:spPr/>
      <dgm:t>
        <a:bodyPr/>
        <a:lstStyle/>
        <a:p>
          <a:endParaRPr lang="en-US"/>
        </a:p>
      </dgm:t>
    </dgm:pt>
    <dgm:pt modelId="{E15E4DC4-3FD6-4DEE-82E9-B13DBEFF275A}" type="sibTrans" cxnId="{49C269E5-CC25-4217-AB54-E421EC86987F}">
      <dgm:prSet/>
      <dgm:spPr/>
      <dgm:t>
        <a:bodyPr/>
        <a:lstStyle/>
        <a:p>
          <a:endParaRPr lang="en-US"/>
        </a:p>
      </dgm:t>
    </dgm:pt>
    <dgm:pt modelId="{AD866997-5569-4F57-B313-7FA242B5F062}">
      <dgm:prSet/>
      <dgm:spPr/>
      <dgm:t>
        <a:bodyPr/>
        <a:lstStyle/>
        <a:p>
          <a:r>
            <a:rPr lang="en-US" dirty="0"/>
            <a:t>Data Analytics Capstone Presentation..</a:t>
          </a:r>
        </a:p>
      </dgm:t>
    </dgm:pt>
    <dgm:pt modelId="{588F81C4-3B48-4CEC-B4E8-287EC1C0E76A}" type="parTrans" cxnId="{698F1123-4663-4C32-9EEF-FF02C7EA0F97}">
      <dgm:prSet/>
      <dgm:spPr/>
      <dgm:t>
        <a:bodyPr/>
        <a:lstStyle/>
        <a:p>
          <a:endParaRPr lang="en-US"/>
        </a:p>
      </dgm:t>
    </dgm:pt>
    <dgm:pt modelId="{7AC8729D-58B9-4D91-B2C5-17825D3839A3}" type="sibTrans" cxnId="{698F1123-4663-4C32-9EEF-FF02C7EA0F97}">
      <dgm:prSet/>
      <dgm:spPr/>
      <dgm:t>
        <a:bodyPr/>
        <a:lstStyle/>
        <a:p>
          <a:endParaRPr lang="en-US"/>
        </a:p>
      </dgm:t>
    </dgm:pt>
    <dgm:pt modelId="{B6BB68C0-C763-4884-8CF2-21B08573638D}">
      <dgm:prSet/>
      <dgm:spPr/>
      <dgm:t>
        <a:bodyPr/>
        <a:lstStyle/>
        <a:p>
          <a:r>
            <a:rPr lang="en-US" dirty="0"/>
            <a:t>by Lester Fok</a:t>
          </a:r>
        </a:p>
      </dgm:t>
    </dgm:pt>
    <dgm:pt modelId="{F079DE6E-EE9D-41F2-AD5F-2D1C12F4CB96}" type="parTrans" cxnId="{05ACED8A-8C1C-429E-A778-43BB0711527D}">
      <dgm:prSet/>
      <dgm:spPr/>
      <dgm:t>
        <a:bodyPr/>
        <a:lstStyle/>
        <a:p>
          <a:endParaRPr lang="en-US"/>
        </a:p>
      </dgm:t>
    </dgm:pt>
    <dgm:pt modelId="{E28709A7-6722-4CB9-B931-7C7245CB17A2}" type="sibTrans" cxnId="{05ACED8A-8C1C-429E-A778-43BB0711527D}">
      <dgm:prSet/>
      <dgm:spPr/>
      <dgm:t>
        <a:bodyPr/>
        <a:lstStyle/>
        <a:p>
          <a:endParaRPr lang="en-US"/>
        </a:p>
      </dgm:t>
    </dgm:pt>
    <dgm:pt modelId="{B421D98C-AEC6-1E44-BAA6-6FEF8AA9F0E4}" type="pres">
      <dgm:prSet presAssocID="{DD4422CF-7708-49B4-91BD-BDEBABE97236}" presName="vert0" presStyleCnt="0">
        <dgm:presLayoutVars>
          <dgm:dir/>
          <dgm:animOne val="branch"/>
          <dgm:animLvl val="lvl"/>
        </dgm:presLayoutVars>
      </dgm:prSet>
      <dgm:spPr/>
    </dgm:pt>
    <dgm:pt modelId="{C1202778-B732-C248-9F0B-D3CAC5CC7AC0}" type="pres">
      <dgm:prSet presAssocID="{F85D45D9-0E62-4CD6-937A-F79B6199AC84}" presName="thickLine" presStyleLbl="alignNode1" presStyleIdx="0" presStyleCnt="3"/>
      <dgm:spPr/>
    </dgm:pt>
    <dgm:pt modelId="{86DF2D13-B1E2-4144-B3C8-68E2B2899145}" type="pres">
      <dgm:prSet presAssocID="{F85D45D9-0E62-4CD6-937A-F79B6199AC84}" presName="horz1" presStyleCnt="0"/>
      <dgm:spPr/>
    </dgm:pt>
    <dgm:pt modelId="{88B67F61-4B89-B943-8219-35AB6BA093AB}" type="pres">
      <dgm:prSet presAssocID="{F85D45D9-0E62-4CD6-937A-F79B6199AC84}" presName="tx1" presStyleLbl="revTx" presStyleIdx="0" presStyleCnt="3"/>
      <dgm:spPr/>
    </dgm:pt>
    <dgm:pt modelId="{3E1AFDCF-2881-DF48-AA0E-E7A82D1EC594}" type="pres">
      <dgm:prSet presAssocID="{F85D45D9-0E62-4CD6-937A-F79B6199AC84}" presName="vert1" presStyleCnt="0"/>
      <dgm:spPr/>
    </dgm:pt>
    <dgm:pt modelId="{DB45C115-7322-034D-AE1F-923E48AA924B}" type="pres">
      <dgm:prSet presAssocID="{AD866997-5569-4F57-B313-7FA242B5F062}" presName="thickLine" presStyleLbl="alignNode1" presStyleIdx="1" presStyleCnt="3"/>
      <dgm:spPr/>
    </dgm:pt>
    <dgm:pt modelId="{E829FBD0-8B44-4F43-914A-6EC013753338}" type="pres">
      <dgm:prSet presAssocID="{AD866997-5569-4F57-B313-7FA242B5F062}" presName="horz1" presStyleCnt="0"/>
      <dgm:spPr/>
    </dgm:pt>
    <dgm:pt modelId="{471C90BA-FFFA-A943-8565-82B4A63D2883}" type="pres">
      <dgm:prSet presAssocID="{AD866997-5569-4F57-B313-7FA242B5F062}" presName="tx1" presStyleLbl="revTx" presStyleIdx="1" presStyleCnt="3"/>
      <dgm:spPr/>
    </dgm:pt>
    <dgm:pt modelId="{49BBCB1F-7AC1-B94B-AC1B-EE8041FC9744}" type="pres">
      <dgm:prSet presAssocID="{AD866997-5569-4F57-B313-7FA242B5F062}" presName="vert1" presStyleCnt="0"/>
      <dgm:spPr/>
    </dgm:pt>
    <dgm:pt modelId="{E8E29A08-B184-9042-8575-84BFA90A40B4}" type="pres">
      <dgm:prSet presAssocID="{B6BB68C0-C763-4884-8CF2-21B08573638D}" presName="thickLine" presStyleLbl="alignNode1" presStyleIdx="2" presStyleCnt="3"/>
      <dgm:spPr/>
    </dgm:pt>
    <dgm:pt modelId="{280D9B3E-7713-9546-AFBC-B0CE9FE06248}" type="pres">
      <dgm:prSet presAssocID="{B6BB68C0-C763-4884-8CF2-21B08573638D}" presName="horz1" presStyleCnt="0"/>
      <dgm:spPr/>
    </dgm:pt>
    <dgm:pt modelId="{B8E30520-ADC4-9345-A202-DE53C5A7CCFB}" type="pres">
      <dgm:prSet presAssocID="{B6BB68C0-C763-4884-8CF2-21B08573638D}" presName="tx1" presStyleLbl="revTx" presStyleIdx="2" presStyleCnt="3"/>
      <dgm:spPr/>
    </dgm:pt>
    <dgm:pt modelId="{41EA7E19-A121-9349-9A70-166D0F9E5970}" type="pres">
      <dgm:prSet presAssocID="{B6BB68C0-C763-4884-8CF2-21B08573638D}" presName="vert1" presStyleCnt="0"/>
      <dgm:spPr/>
    </dgm:pt>
  </dgm:ptLst>
  <dgm:cxnLst>
    <dgm:cxn modelId="{C704501B-E83E-8D46-B753-8F98A397AE65}" type="presOf" srcId="{DD4422CF-7708-49B4-91BD-BDEBABE97236}" destId="{B421D98C-AEC6-1E44-BAA6-6FEF8AA9F0E4}" srcOrd="0" destOrd="0" presId="urn:microsoft.com/office/officeart/2008/layout/LinedList"/>
    <dgm:cxn modelId="{698F1123-4663-4C32-9EEF-FF02C7EA0F97}" srcId="{DD4422CF-7708-49B4-91BD-BDEBABE97236}" destId="{AD866997-5569-4F57-B313-7FA242B5F062}" srcOrd="1" destOrd="0" parTransId="{588F81C4-3B48-4CEC-B4E8-287EC1C0E76A}" sibTransId="{7AC8729D-58B9-4D91-B2C5-17825D3839A3}"/>
    <dgm:cxn modelId="{3CD40238-367C-D64F-9C74-D63C73945AD5}" type="presOf" srcId="{F85D45D9-0E62-4CD6-937A-F79B6199AC84}" destId="{88B67F61-4B89-B943-8219-35AB6BA093AB}" srcOrd="0" destOrd="0" presId="urn:microsoft.com/office/officeart/2008/layout/LinedList"/>
    <dgm:cxn modelId="{05ACED8A-8C1C-429E-A778-43BB0711527D}" srcId="{DD4422CF-7708-49B4-91BD-BDEBABE97236}" destId="{B6BB68C0-C763-4884-8CF2-21B08573638D}" srcOrd="2" destOrd="0" parTransId="{F079DE6E-EE9D-41F2-AD5F-2D1C12F4CB96}" sibTransId="{E28709A7-6722-4CB9-B931-7C7245CB17A2}"/>
    <dgm:cxn modelId="{A7E866A4-FFA6-FA49-9DFB-28CC0929A9AC}" type="presOf" srcId="{AD866997-5569-4F57-B313-7FA242B5F062}" destId="{471C90BA-FFFA-A943-8565-82B4A63D2883}" srcOrd="0" destOrd="0" presId="urn:microsoft.com/office/officeart/2008/layout/LinedList"/>
    <dgm:cxn modelId="{9FE642C3-D2EE-6E4D-BC70-38AE9C4FA0A3}" type="presOf" srcId="{B6BB68C0-C763-4884-8CF2-21B08573638D}" destId="{B8E30520-ADC4-9345-A202-DE53C5A7CCFB}" srcOrd="0" destOrd="0" presId="urn:microsoft.com/office/officeart/2008/layout/LinedList"/>
    <dgm:cxn modelId="{49C269E5-CC25-4217-AB54-E421EC86987F}" srcId="{DD4422CF-7708-49B4-91BD-BDEBABE97236}" destId="{F85D45D9-0E62-4CD6-937A-F79B6199AC84}" srcOrd="0" destOrd="0" parTransId="{4A795D42-D13E-4F05-BF54-B155D715E283}" sibTransId="{E15E4DC4-3FD6-4DEE-82E9-B13DBEFF275A}"/>
    <dgm:cxn modelId="{6235F194-B5B6-BF41-8C09-17FA9AEA76F5}" type="presParOf" srcId="{B421D98C-AEC6-1E44-BAA6-6FEF8AA9F0E4}" destId="{C1202778-B732-C248-9F0B-D3CAC5CC7AC0}" srcOrd="0" destOrd="0" presId="urn:microsoft.com/office/officeart/2008/layout/LinedList"/>
    <dgm:cxn modelId="{046E7E6D-7B2D-8B48-A201-A8496E4734A9}" type="presParOf" srcId="{B421D98C-AEC6-1E44-BAA6-6FEF8AA9F0E4}" destId="{86DF2D13-B1E2-4144-B3C8-68E2B2899145}" srcOrd="1" destOrd="0" presId="urn:microsoft.com/office/officeart/2008/layout/LinedList"/>
    <dgm:cxn modelId="{56C424AF-B6A4-3948-855F-6181717FAF08}" type="presParOf" srcId="{86DF2D13-B1E2-4144-B3C8-68E2B2899145}" destId="{88B67F61-4B89-B943-8219-35AB6BA093AB}" srcOrd="0" destOrd="0" presId="urn:microsoft.com/office/officeart/2008/layout/LinedList"/>
    <dgm:cxn modelId="{62BC31E2-90F8-DF43-BAC0-5350BA5F835C}" type="presParOf" srcId="{86DF2D13-B1E2-4144-B3C8-68E2B2899145}" destId="{3E1AFDCF-2881-DF48-AA0E-E7A82D1EC594}" srcOrd="1" destOrd="0" presId="urn:microsoft.com/office/officeart/2008/layout/LinedList"/>
    <dgm:cxn modelId="{70BFAEA9-CB01-A743-89A1-4762AF272C1A}" type="presParOf" srcId="{B421D98C-AEC6-1E44-BAA6-6FEF8AA9F0E4}" destId="{DB45C115-7322-034D-AE1F-923E48AA924B}" srcOrd="2" destOrd="0" presId="urn:microsoft.com/office/officeart/2008/layout/LinedList"/>
    <dgm:cxn modelId="{C08DF588-4657-A646-89CB-5F62B0BD64C8}" type="presParOf" srcId="{B421D98C-AEC6-1E44-BAA6-6FEF8AA9F0E4}" destId="{E829FBD0-8B44-4F43-914A-6EC013753338}" srcOrd="3" destOrd="0" presId="urn:microsoft.com/office/officeart/2008/layout/LinedList"/>
    <dgm:cxn modelId="{CB8FA69A-876C-5141-8298-6ED7AE7684DE}" type="presParOf" srcId="{E829FBD0-8B44-4F43-914A-6EC013753338}" destId="{471C90BA-FFFA-A943-8565-82B4A63D2883}" srcOrd="0" destOrd="0" presId="urn:microsoft.com/office/officeart/2008/layout/LinedList"/>
    <dgm:cxn modelId="{66D05BE0-69DD-EE4D-B0B0-874016920518}" type="presParOf" srcId="{E829FBD0-8B44-4F43-914A-6EC013753338}" destId="{49BBCB1F-7AC1-B94B-AC1B-EE8041FC9744}" srcOrd="1" destOrd="0" presId="urn:microsoft.com/office/officeart/2008/layout/LinedList"/>
    <dgm:cxn modelId="{377E627E-ACB1-8642-B194-637A0395D0B2}" type="presParOf" srcId="{B421D98C-AEC6-1E44-BAA6-6FEF8AA9F0E4}" destId="{E8E29A08-B184-9042-8575-84BFA90A40B4}" srcOrd="4" destOrd="0" presId="urn:microsoft.com/office/officeart/2008/layout/LinedList"/>
    <dgm:cxn modelId="{211BB2B1-6568-6346-92DA-B4090946417E}" type="presParOf" srcId="{B421D98C-AEC6-1E44-BAA6-6FEF8AA9F0E4}" destId="{280D9B3E-7713-9546-AFBC-B0CE9FE06248}" srcOrd="5" destOrd="0" presId="urn:microsoft.com/office/officeart/2008/layout/LinedList"/>
    <dgm:cxn modelId="{C2D26084-4EF2-164F-904B-A1FC0A6C7B4F}" type="presParOf" srcId="{280D9B3E-7713-9546-AFBC-B0CE9FE06248}" destId="{B8E30520-ADC4-9345-A202-DE53C5A7CCFB}" srcOrd="0" destOrd="0" presId="urn:microsoft.com/office/officeart/2008/layout/LinedList"/>
    <dgm:cxn modelId="{4C3D11C1-C0F1-8947-81B6-4392D2528042}" type="presParOf" srcId="{280D9B3E-7713-9546-AFBC-B0CE9FE06248}" destId="{41EA7E19-A121-9349-9A70-166D0F9E597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0753720-E718-4C67-AFE2-AD1A29CD8C0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9C80D78-3F1C-4967-873C-E16ABDF1FBC8}">
      <dgm:prSet/>
      <dgm:spPr/>
      <dgm:t>
        <a:bodyPr/>
        <a:lstStyle/>
        <a:p>
          <a:r>
            <a:rPr lang="en-US" dirty="0"/>
            <a:t>Singapore faces three challenges:</a:t>
          </a:r>
        </a:p>
      </dgm:t>
    </dgm:pt>
    <dgm:pt modelId="{3356034C-2EA8-44B9-8CE2-46B2830B1775}" type="parTrans" cxnId="{BA369CDB-F626-48B4-AD7B-3D8C52F18FE5}">
      <dgm:prSet/>
      <dgm:spPr/>
      <dgm:t>
        <a:bodyPr/>
        <a:lstStyle/>
        <a:p>
          <a:endParaRPr lang="en-US"/>
        </a:p>
      </dgm:t>
    </dgm:pt>
    <dgm:pt modelId="{A34AE3D2-BCCC-45AF-99DD-5B789E59A0B4}" type="sibTrans" cxnId="{BA369CDB-F626-48B4-AD7B-3D8C52F18FE5}">
      <dgm:prSet/>
      <dgm:spPr/>
      <dgm:t>
        <a:bodyPr/>
        <a:lstStyle/>
        <a:p>
          <a:endParaRPr lang="en-US"/>
        </a:p>
      </dgm:t>
    </dgm:pt>
    <dgm:pt modelId="{3355CC05-AB83-46E4-B0F6-851A80843AE6}">
      <dgm:prSet/>
      <dgm:spPr/>
      <dgm:t>
        <a:bodyPr/>
        <a:lstStyle/>
        <a:p>
          <a:r>
            <a:rPr lang="en-US" dirty="0"/>
            <a:t>- Birth rates at all-time low</a:t>
          </a:r>
        </a:p>
      </dgm:t>
    </dgm:pt>
    <dgm:pt modelId="{79DE6422-74A4-4F00-96B2-AE4574D328D5}" type="parTrans" cxnId="{99690F58-E6AB-418A-BF8A-59DC5BBBDF85}">
      <dgm:prSet/>
      <dgm:spPr/>
      <dgm:t>
        <a:bodyPr/>
        <a:lstStyle/>
        <a:p>
          <a:endParaRPr lang="en-US"/>
        </a:p>
      </dgm:t>
    </dgm:pt>
    <dgm:pt modelId="{9439EB18-E4C3-4C20-825B-4B87558C2C00}" type="sibTrans" cxnId="{99690F58-E6AB-418A-BF8A-59DC5BBBDF85}">
      <dgm:prSet/>
      <dgm:spPr/>
      <dgm:t>
        <a:bodyPr/>
        <a:lstStyle/>
        <a:p>
          <a:endParaRPr lang="en-US"/>
        </a:p>
      </dgm:t>
    </dgm:pt>
    <dgm:pt modelId="{9D2B5381-187A-416C-B007-C4144CDF01D9}">
      <dgm:prSet/>
      <dgm:spPr/>
      <dgm:t>
        <a:bodyPr/>
        <a:lstStyle/>
        <a:p>
          <a:r>
            <a:rPr lang="en-US"/>
            <a:t>- Rising immigration to balance decline</a:t>
          </a:r>
        </a:p>
      </dgm:t>
    </dgm:pt>
    <dgm:pt modelId="{484E31A5-F444-4929-ACE7-564DBB839252}" type="parTrans" cxnId="{3A61A9C6-523E-48D2-B4AB-2C03936F7889}">
      <dgm:prSet/>
      <dgm:spPr/>
      <dgm:t>
        <a:bodyPr/>
        <a:lstStyle/>
        <a:p>
          <a:endParaRPr lang="en-US"/>
        </a:p>
      </dgm:t>
    </dgm:pt>
    <dgm:pt modelId="{0DC04413-AB88-4C74-9A33-951C6F31BB5C}" type="sibTrans" cxnId="{3A61A9C6-523E-48D2-B4AB-2C03936F7889}">
      <dgm:prSet/>
      <dgm:spPr/>
      <dgm:t>
        <a:bodyPr/>
        <a:lstStyle/>
        <a:p>
          <a:endParaRPr lang="en-US"/>
        </a:p>
      </dgm:t>
    </dgm:pt>
    <dgm:pt modelId="{CFCC13B3-2121-44F5-B8B6-C88678DAEA18}">
      <dgm:prSet/>
      <dgm:spPr/>
      <dgm:t>
        <a:bodyPr/>
        <a:lstStyle/>
        <a:p>
          <a:r>
            <a:rPr lang="en-US"/>
            <a:t>- Housing affordability shifts</a:t>
          </a:r>
        </a:p>
      </dgm:t>
    </dgm:pt>
    <dgm:pt modelId="{67F6133E-DB04-4699-A9DB-3834C2E9E09E}" type="parTrans" cxnId="{39A763E7-333B-439F-981C-C8F4D65E1074}">
      <dgm:prSet/>
      <dgm:spPr/>
      <dgm:t>
        <a:bodyPr/>
        <a:lstStyle/>
        <a:p>
          <a:endParaRPr lang="en-US"/>
        </a:p>
      </dgm:t>
    </dgm:pt>
    <dgm:pt modelId="{609BD6D2-7D80-4D55-B97D-B9E462225499}" type="sibTrans" cxnId="{39A763E7-333B-439F-981C-C8F4D65E1074}">
      <dgm:prSet/>
      <dgm:spPr/>
      <dgm:t>
        <a:bodyPr/>
        <a:lstStyle/>
        <a:p>
          <a:endParaRPr lang="en-US"/>
        </a:p>
      </dgm:t>
    </dgm:pt>
    <dgm:pt modelId="{7F150917-1F46-46CF-9E5D-B3ACBFECAD7D}">
      <dgm:prSet/>
      <dgm:spPr/>
      <dgm:t>
        <a:bodyPr/>
        <a:lstStyle/>
        <a:p>
          <a:r>
            <a:rPr lang="en-US"/>
            <a:t>How do these trends interact?</a:t>
          </a:r>
        </a:p>
      </dgm:t>
    </dgm:pt>
    <dgm:pt modelId="{49CB9F92-159D-4EA6-945B-71DDE900E7DF}" type="parTrans" cxnId="{6C447667-CF7B-42C2-8126-87153D3423DB}">
      <dgm:prSet/>
      <dgm:spPr/>
      <dgm:t>
        <a:bodyPr/>
        <a:lstStyle/>
        <a:p>
          <a:endParaRPr lang="en-US"/>
        </a:p>
      </dgm:t>
    </dgm:pt>
    <dgm:pt modelId="{E5D4FAA5-53B2-475F-9805-EF6FCEAECBAB}" type="sibTrans" cxnId="{6C447667-CF7B-42C2-8126-87153D3423DB}">
      <dgm:prSet/>
      <dgm:spPr/>
      <dgm:t>
        <a:bodyPr/>
        <a:lstStyle/>
        <a:p>
          <a:endParaRPr lang="en-US"/>
        </a:p>
      </dgm:t>
    </dgm:pt>
    <dgm:pt modelId="{B54406DD-59C5-314E-B2E8-B71341E070F6}" type="pres">
      <dgm:prSet presAssocID="{60753720-E718-4C67-AFE2-AD1A29CD8C05}" presName="linear" presStyleCnt="0">
        <dgm:presLayoutVars>
          <dgm:animLvl val="lvl"/>
          <dgm:resizeHandles val="exact"/>
        </dgm:presLayoutVars>
      </dgm:prSet>
      <dgm:spPr/>
    </dgm:pt>
    <dgm:pt modelId="{EF7E48FD-39BB-174E-9ECA-7FDFADB805FF}" type="pres">
      <dgm:prSet presAssocID="{89C80D78-3F1C-4967-873C-E16ABDF1FBC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CDEC53C-86C8-734E-B481-A8A8F66E06A7}" type="pres">
      <dgm:prSet presAssocID="{A34AE3D2-BCCC-45AF-99DD-5B789E59A0B4}" presName="spacer" presStyleCnt="0"/>
      <dgm:spPr/>
    </dgm:pt>
    <dgm:pt modelId="{5B06A58F-6BC0-2C43-BF2D-CF31909D4760}" type="pres">
      <dgm:prSet presAssocID="{3355CC05-AB83-46E4-B0F6-851A80843AE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B3D1F57-2C32-564C-AA0E-9C1A1467B825}" type="pres">
      <dgm:prSet presAssocID="{9439EB18-E4C3-4C20-825B-4B87558C2C00}" presName="spacer" presStyleCnt="0"/>
      <dgm:spPr/>
    </dgm:pt>
    <dgm:pt modelId="{BF2E5B51-E1D8-2B47-9FEF-F52CFD27BE40}" type="pres">
      <dgm:prSet presAssocID="{9D2B5381-187A-416C-B007-C4144CDF01D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D4C9757-74F0-384E-814C-D7CF369A8C28}" type="pres">
      <dgm:prSet presAssocID="{0DC04413-AB88-4C74-9A33-951C6F31BB5C}" presName="spacer" presStyleCnt="0"/>
      <dgm:spPr/>
    </dgm:pt>
    <dgm:pt modelId="{B26D187C-4772-244F-BB73-3B705D7633F6}" type="pres">
      <dgm:prSet presAssocID="{CFCC13B3-2121-44F5-B8B6-C88678DAEA1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8554D52-CC38-1449-B97A-5B9BD6BD77AB}" type="pres">
      <dgm:prSet presAssocID="{609BD6D2-7D80-4D55-B97D-B9E462225499}" presName="spacer" presStyleCnt="0"/>
      <dgm:spPr/>
    </dgm:pt>
    <dgm:pt modelId="{88858C80-3920-D748-99BA-FC8A23BD820F}" type="pres">
      <dgm:prSet presAssocID="{7F150917-1F46-46CF-9E5D-B3ACBFECAD7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520F91C-CC7F-184D-A418-A3BE463E5458}" type="presOf" srcId="{9D2B5381-187A-416C-B007-C4144CDF01D9}" destId="{BF2E5B51-E1D8-2B47-9FEF-F52CFD27BE40}" srcOrd="0" destOrd="0" presId="urn:microsoft.com/office/officeart/2005/8/layout/vList2"/>
    <dgm:cxn modelId="{94D91026-AFDD-6945-AE9E-FB41F5C2B85F}" type="presOf" srcId="{CFCC13B3-2121-44F5-B8B6-C88678DAEA18}" destId="{B26D187C-4772-244F-BB73-3B705D7633F6}" srcOrd="0" destOrd="0" presId="urn:microsoft.com/office/officeart/2005/8/layout/vList2"/>
    <dgm:cxn modelId="{1C12A331-DBD6-2A41-A877-D99E962A6502}" type="presOf" srcId="{7F150917-1F46-46CF-9E5D-B3ACBFECAD7D}" destId="{88858C80-3920-D748-99BA-FC8A23BD820F}" srcOrd="0" destOrd="0" presId="urn:microsoft.com/office/officeart/2005/8/layout/vList2"/>
    <dgm:cxn modelId="{DD83183B-F70E-6745-986B-2DC2896229A3}" type="presOf" srcId="{89C80D78-3F1C-4967-873C-E16ABDF1FBC8}" destId="{EF7E48FD-39BB-174E-9ECA-7FDFADB805FF}" srcOrd="0" destOrd="0" presId="urn:microsoft.com/office/officeart/2005/8/layout/vList2"/>
    <dgm:cxn modelId="{69D32053-0426-034C-8845-52A3D63677D1}" type="presOf" srcId="{3355CC05-AB83-46E4-B0F6-851A80843AE6}" destId="{5B06A58F-6BC0-2C43-BF2D-CF31909D4760}" srcOrd="0" destOrd="0" presId="urn:microsoft.com/office/officeart/2005/8/layout/vList2"/>
    <dgm:cxn modelId="{99690F58-E6AB-418A-BF8A-59DC5BBBDF85}" srcId="{60753720-E718-4C67-AFE2-AD1A29CD8C05}" destId="{3355CC05-AB83-46E4-B0F6-851A80843AE6}" srcOrd="1" destOrd="0" parTransId="{79DE6422-74A4-4F00-96B2-AE4574D328D5}" sibTransId="{9439EB18-E4C3-4C20-825B-4B87558C2C00}"/>
    <dgm:cxn modelId="{23CDE05B-D1F9-6546-A2F2-5D441E3D754F}" type="presOf" srcId="{60753720-E718-4C67-AFE2-AD1A29CD8C05}" destId="{B54406DD-59C5-314E-B2E8-B71341E070F6}" srcOrd="0" destOrd="0" presId="urn:microsoft.com/office/officeart/2005/8/layout/vList2"/>
    <dgm:cxn modelId="{6C447667-CF7B-42C2-8126-87153D3423DB}" srcId="{60753720-E718-4C67-AFE2-AD1A29CD8C05}" destId="{7F150917-1F46-46CF-9E5D-B3ACBFECAD7D}" srcOrd="4" destOrd="0" parTransId="{49CB9F92-159D-4EA6-945B-71DDE900E7DF}" sibTransId="{E5D4FAA5-53B2-475F-9805-EF6FCEAECBAB}"/>
    <dgm:cxn modelId="{3A61A9C6-523E-48D2-B4AB-2C03936F7889}" srcId="{60753720-E718-4C67-AFE2-AD1A29CD8C05}" destId="{9D2B5381-187A-416C-B007-C4144CDF01D9}" srcOrd="2" destOrd="0" parTransId="{484E31A5-F444-4929-ACE7-564DBB839252}" sibTransId="{0DC04413-AB88-4C74-9A33-951C6F31BB5C}"/>
    <dgm:cxn modelId="{BA369CDB-F626-48B4-AD7B-3D8C52F18FE5}" srcId="{60753720-E718-4C67-AFE2-AD1A29CD8C05}" destId="{89C80D78-3F1C-4967-873C-E16ABDF1FBC8}" srcOrd="0" destOrd="0" parTransId="{3356034C-2EA8-44B9-8CE2-46B2830B1775}" sibTransId="{A34AE3D2-BCCC-45AF-99DD-5B789E59A0B4}"/>
    <dgm:cxn modelId="{39A763E7-333B-439F-981C-C8F4D65E1074}" srcId="{60753720-E718-4C67-AFE2-AD1A29CD8C05}" destId="{CFCC13B3-2121-44F5-B8B6-C88678DAEA18}" srcOrd="3" destOrd="0" parTransId="{67F6133E-DB04-4699-A9DB-3834C2E9E09E}" sibTransId="{609BD6D2-7D80-4D55-B97D-B9E462225499}"/>
    <dgm:cxn modelId="{C0D9DF86-870A-6A46-B4CA-C82CA01D9DB7}" type="presParOf" srcId="{B54406DD-59C5-314E-B2E8-B71341E070F6}" destId="{EF7E48FD-39BB-174E-9ECA-7FDFADB805FF}" srcOrd="0" destOrd="0" presId="urn:microsoft.com/office/officeart/2005/8/layout/vList2"/>
    <dgm:cxn modelId="{EC826E77-20BD-AB44-B2CC-C243479C8289}" type="presParOf" srcId="{B54406DD-59C5-314E-B2E8-B71341E070F6}" destId="{6CDEC53C-86C8-734E-B481-A8A8F66E06A7}" srcOrd="1" destOrd="0" presId="urn:microsoft.com/office/officeart/2005/8/layout/vList2"/>
    <dgm:cxn modelId="{F6D59720-DB7F-AE45-B15A-00A3FAC8925C}" type="presParOf" srcId="{B54406DD-59C5-314E-B2E8-B71341E070F6}" destId="{5B06A58F-6BC0-2C43-BF2D-CF31909D4760}" srcOrd="2" destOrd="0" presId="urn:microsoft.com/office/officeart/2005/8/layout/vList2"/>
    <dgm:cxn modelId="{DD7A11FA-DB73-D149-8FE6-239A6EFF5A0D}" type="presParOf" srcId="{B54406DD-59C5-314E-B2E8-B71341E070F6}" destId="{4B3D1F57-2C32-564C-AA0E-9C1A1467B825}" srcOrd="3" destOrd="0" presId="urn:microsoft.com/office/officeart/2005/8/layout/vList2"/>
    <dgm:cxn modelId="{2C3C7F2D-2121-F348-BF61-9AAF06C5EDB7}" type="presParOf" srcId="{B54406DD-59C5-314E-B2E8-B71341E070F6}" destId="{BF2E5B51-E1D8-2B47-9FEF-F52CFD27BE40}" srcOrd="4" destOrd="0" presId="urn:microsoft.com/office/officeart/2005/8/layout/vList2"/>
    <dgm:cxn modelId="{23E79FD7-D721-E944-9E96-9362FA6C26F3}" type="presParOf" srcId="{B54406DD-59C5-314E-B2E8-B71341E070F6}" destId="{AD4C9757-74F0-384E-814C-D7CF369A8C28}" srcOrd="5" destOrd="0" presId="urn:microsoft.com/office/officeart/2005/8/layout/vList2"/>
    <dgm:cxn modelId="{EC052024-2247-B14E-8F0D-CC3F1CC4CD3B}" type="presParOf" srcId="{B54406DD-59C5-314E-B2E8-B71341E070F6}" destId="{B26D187C-4772-244F-BB73-3B705D7633F6}" srcOrd="6" destOrd="0" presId="urn:microsoft.com/office/officeart/2005/8/layout/vList2"/>
    <dgm:cxn modelId="{A2BFF70F-7403-4947-905D-C410D8A4B939}" type="presParOf" srcId="{B54406DD-59C5-314E-B2E8-B71341E070F6}" destId="{D8554D52-CC38-1449-B97A-5B9BD6BD77AB}" srcOrd="7" destOrd="0" presId="urn:microsoft.com/office/officeart/2005/8/layout/vList2"/>
    <dgm:cxn modelId="{CDA05E00-4051-6244-B92F-A5B2CE83BD78}" type="presParOf" srcId="{B54406DD-59C5-314E-B2E8-B71341E070F6}" destId="{88858C80-3920-D748-99BA-FC8A23BD820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087874C-7ACC-4E81-987B-DE00A5C3A9A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0475A58-0A21-432B-9E64-E35A84F1A8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hlinkClick xmlns:r="http://schemas.openxmlformats.org/officeDocument/2006/relationships" r:id="rId1"/>
            </a:rPr>
            <a:t>Dataset 1</a:t>
          </a:r>
          <a:r>
            <a:rPr lang="en-US" dirty="0"/>
            <a:t>: Birth Rates (1960–2023)</a:t>
          </a:r>
        </a:p>
      </dgm:t>
    </dgm:pt>
    <dgm:pt modelId="{19233D16-15C8-4AA1-9AF7-C04B8DD96C37}" type="parTrans" cxnId="{AD916D57-1F11-4726-9E9E-10F8297DBBA6}">
      <dgm:prSet/>
      <dgm:spPr/>
      <dgm:t>
        <a:bodyPr/>
        <a:lstStyle/>
        <a:p>
          <a:endParaRPr lang="en-US"/>
        </a:p>
      </dgm:t>
    </dgm:pt>
    <dgm:pt modelId="{A6A4CC25-EF2C-4B9D-B7D1-05BD654B1198}" type="sibTrans" cxnId="{AD916D57-1F11-4726-9E9E-10F8297DBBA6}">
      <dgm:prSet/>
      <dgm:spPr/>
      <dgm:t>
        <a:bodyPr/>
        <a:lstStyle/>
        <a:p>
          <a:endParaRPr lang="en-US"/>
        </a:p>
      </dgm:t>
    </dgm:pt>
    <dgm:pt modelId="{13235CAA-F8CF-4D3E-8BED-2CF7561DF4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hlinkClick xmlns:r="http://schemas.openxmlformats.org/officeDocument/2006/relationships" r:id="rId2"/>
            </a:rPr>
            <a:t>Dataset 2</a:t>
          </a:r>
          <a:r>
            <a:rPr lang="en-US" dirty="0"/>
            <a:t>: Immigration &amp; PR Stats</a:t>
          </a:r>
        </a:p>
      </dgm:t>
    </dgm:pt>
    <dgm:pt modelId="{87D123DB-6861-4959-90F0-0DD6F43995F6}" type="parTrans" cxnId="{96C51A92-5040-4A84-8918-1C2D1BED9B82}">
      <dgm:prSet/>
      <dgm:spPr/>
      <dgm:t>
        <a:bodyPr/>
        <a:lstStyle/>
        <a:p>
          <a:endParaRPr lang="en-US"/>
        </a:p>
      </dgm:t>
    </dgm:pt>
    <dgm:pt modelId="{0C2B0400-76CE-4962-9DA7-CC4B4606862F}" type="sibTrans" cxnId="{96C51A92-5040-4A84-8918-1C2D1BED9B82}">
      <dgm:prSet/>
      <dgm:spPr/>
      <dgm:t>
        <a:bodyPr/>
        <a:lstStyle/>
        <a:p>
          <a:endParaRPr lang="en-US"/>
        </a:p>
      </dgm:t>
    </dgm:pt>
    <dgm:pt modelId="{8B9E8AF1-0E92-406C-AD72-16BA4A70CBF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hlinkClick xmlns:r="http://schemas.openxmlformats.org/officeDocument/2006/relationships" r:id="rId3"/>
            </a:rPr>
            <a:t>Dataset 3</a:t>
          </a:r>
          <a:r>
            <a:rPr lang="en-US" dirty="0"/>
            <a:t>: HDB Resale Prices</a:t>
          </a:r>
        </a:p>
      </dgm:t>
    </dgm:pt>
    <dgm:pt modelId="{4B19B3A0-0A59-4304-8807-CECBCBDA8F2A}" type="parTrans" cxnId="{183787BF-1D69-48E8-B8BD-98DBBCBBE0D7}">
      <dgm:prSet/>
      <dgm:spPr/>
      <dgm:t>
        <a:bodyPr/>
        <a:lstStyle/>
        <a:p>
          <a:endParaRPr lang="en-US"/>
        </a:p>
      </dgm:t>
    </dgm:pt>
    <dgm:pt modelId="{6AD0C305-1C96-4CA0-B3C2-0C4E98FBA853}" type="sibTrans" cxnId="{183787BF-1D69-48E8-B8BD-98DBBCBBE0D7}">
      <dgm:prSet/>
      <dgm:spPr/>
      <dgm:t>
        <a:bodyPr/>
        <a:lstStyle/>
        <a:p>
          <a:endParaRPr lang="en-US"/>
        </a:p>
      </dgm:t>
    </dgm:pt>
    <dgm:pt modelId="{035B541C-305A-4D2A-83B3-5FA1BCCC45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Clean, official, structured data.</a:t>
          </a:r>
        </a:p>
      </dgm:t>
    </dgm:pt>
    <dgm:pt modelId="{D6EC0A56-C464-4351-BDE4-2D23CF3D435B}" type="parTrans" cxnId="{4764C918-584C-4A31-BDEF-E6E466EBB720}">
      <dgm:prSet/>
      <dgm:spPr/>
      <dgm:t>
        <a:bodyPr/>
        <a:lstStyle/>
        <a:p>
          <a:endParaRPr lang="en-US"/>
        </a:p>
      </dgm:t>
    </dgm:pt>
    <dgm:pt modelId="{530469B1-54C7-4CD3-8319-06A381E89DB2}" type="sibTrans" cxnId="{4764C918-584C-4A31-BDEF-E6E466EBB720}">
      <dgm:prSet/>
      <dgm:spPr/>
      <dgm:t>
        <a:bodyPr/>
        <a:lstStyle/>
        <a:p>
          <a:endParaRPr lang="en-US"/>
        </a:p>
      </dgm:t>
    </dgm:pt>
    <dgm:pt modelId="{8D9E992B-22B2-4440-A302-463D60C55A97}" type="pres">
      <dgm:prSet presAssocID="{2087874C-7ACC-4E81-987B-DE00A5C3A9A9}" presName="root" presStyleCnt="0">
        <dgm:presLayoutVars>
          <dgm:dir/>
          <dgm:resizeHandles val="exact"/>
        </dgm:presLayoutVars>
      </dgm:prSet>
      <dgm:spPr/>
    </dgm:pt>
    <dgm:pt modelId="{178FD188-5413-4F2A-8B27-6288C2730253}" type="pres">
      <dgm:prSet presAssocID="{50475A58-0A21-432B-9E64-E35A84F1A87B}" presName="compNode" presStyleCnt="0"/>
      <dgm:spPr/>
    </dgm:pt>
    <dgm:pt modelId="{C7C7F2F9-3026-426A-9E65-0D379C4771B4}" type="pres">
      <dgm:prSet presAssocID="{50475A58-0A21-432B-9E64-E35A84F1A87B}" presName="iconRect" presStyleLbl="node1" presStyleIdx="0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aduation Cap"/>
        </a:ext>
      </dgm:extLst>
    </dgm:pt>
    <dgm:pt modelId="{0FD835B3-97C0-4C29-9A7E-5E79D77699F8}" type="pres">
      <dgm:prSet presAssocID="{50475A58-0A21-432B-9E64-E35A84F1A87B}" presName="spaceRect" presStyleCnt="0"/>
      <dgm:spPr/>
    </dgm:pt>
    <dgm:pt modelId="{4986606D-CCED-49EA-A4C9-599DBDFB3D61}" type="pres">
      <dgm:prSet presAssocID="{50475A58-0A21-432B-9E64-E35A84F1A87B}" presName="textRect" presStyleLbl="revTx" presStyleIdx="0" presStyleCnt="4">
        <dgm:presLayoutVars>
          <dgm:chMax val="1"/>
          <dgm:chPref val="1"/>
        </dgm:presLayoutVars>
      </dgm:prSet>
      <dgm:spPr/>
    </dgm:pt>
    <dgm:pt modelId="{1CA36271-1CE8-42DA-9788-449BC3C77CEC}" type="pres">
      <dgm:prSet presAssocID="{A6A4CC25-EF2C-4B9D-B7D1-05BD654B1198}" presName="sibTrans" presStyleCnt="0"/>
      <dgm:spPr/>
    </dgm:pt>
    <dgm:pt modelId="{B682B6AA-77B8-4E8B-BD26-63FF73FD9AD4}" type="pres">
      <dgm:prSet presAssocID="{13235CAA-F8CF-4D3E-8BED-2CF7561DF4BC}" presName="compNode" presStyleCnt="0"/>
      <dgm:spPr/>
    </dgm:pt>
    <dgm:pt modelId="{907C63AB-BE1C-4163-ABA7-35F79AAFB6A7}" type="pres">
      <dgm:prSet presAssocID="{13235CAA-F8CF-4D3E-8BED-2CF7561DF4BC}" presName="iconRect" presStyleLbl="node1" presStyleIdx="1" presStyleCnt="4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E858A99-E71C-4CD8-9517-94C32981E3C7}" type="pres">
      <dgm:prSet presAssocID="{13235CAA-F8CF-4D3E-8BED-2CF7561DF4BC}" presName="spaceRect" presStyleCnt="0"/>
      <dgm:spPr/>
    </dgm:pt>
    <dgm:pt modelId="{E94B18F9-F2E8-4061-BF10-2AB96171C163}" type="pres">
      <dgm:prSet presAssocID="{13235CAA-F8CF-4D3E-8BED-2CF7561DF4BC}" presName="textRect" presStyleLbl="revTx" presStyleIdx="1" presStyleCnt="4">
        <dgm:presLayoutVars>
          <dgm:chMax val="1"/>
          <dgm:chPref val="1"/>
        </dgm:presLayoutVars>
      </dgm:prSet>
      <dgm:spPr/>
    </dgm:pt>
    <dgm:pt modelId="{0C5AEC24-BB3E-4657-B6E1-68B5084CF7DB}" type="pres">
      <dgm:prSet presAssocID="{0C2B0400-76CE-4962-9DA7-CC4B4606862F}" presName="sibTrans" presStyleCnt="0"/>
      <dgm:spPr/>
    </dgm:pt>
    <dgm:pt modelId="{BD57A2E2-BDA4-4DF6-87D4-C71E421AB284}" type="pres">
      <dgm:prSet presAssocID="{8B9E8AF1-0E92-406C-AD72-16BA4A70CBF9}" presName="compNode" presStyleCnt="0"/>
      <dgm:spPr/>
    </dgm:pt>
    <dgm:pt modelId="{F37257D4-FB8D-426C-8819-B2EC26ECEA61}" type="pres">
      <dgm:prSet presAssocID="{8B9E8AF1-0E92-406C-AD72-16BA4A70CBF9}" presName="iconRect" presStyleLbl="node1" presStyleIdx="2" presStyleCnt="4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3DD16EB-8DAA-435E-86E0-7E0B54339CA8}" type="pres">
      <dgm:prSet presAssocID="{8B9E8AF1-0E92-406C-AD72-16BA4A70CBF9}" presName="spaceRect" presStyleCnt="0"/>
      <dgm:spPr/>
    </dgm:pt>
    <dgm:pt modelId="{2B98732B-5E30-4647-9F69-B3BEF189D255}" type="pres">
      <dgm:prSet presAssocID="{8B9E8AF1-0E92-406C-AD72-16BA4A70CBF9}" presName="textRect" presStyleLbl="revTx" presStyleIdx="2" presStyleCnt="4">
        <dgm:presLayoutVars>
          <dgm:chMax val="1"/>
          <dgm:chPref val="1"/>
        </dgm:presLayoutVars>
      </dgm:prSet>
      <dgm:spPr/>
    </dgm:pt>
    <dgm:pt modelId="{C674201C-B448-4235-A59D-D3F547B489B0}" type="pres">
      <dgm:prSet presAssocID="{6AD0C305-1C96-4CA0-B3C2-0C4E98FBA853}" presName="sibTrans" presStyleCnt="0"/>
      <dgm:spPr/>
    </dgm:pt>
    <dgm:pt modelId="{2ABBB5C5-27D1-4579-B005-43F3349CBB72}" type="pres">
      <dgm:prSet presAssocID="{035B541C-305A-4D2A-83B3-5FA1BCCC4564}" presName="compNode" presStyleCnt="0"/>
      <dgm:spPr/>
    </dgm:pt>
    <dgm:pt modelId="{5EC1CD3B-7E1E-47BF-BB13-93EFBE0800F9}" type="pres">
      <dgm:prSet presAssocID="{035B541C-305A-4D2A-83B3-5FA1BCCC4564}" presName="iconRect" presStyleLbl="node1" presStyleIdx="3" presStyleCnt="4"/>
      <dgm:spPr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49E8B3FE-7FD2-49C0-84E0-9D711BA36260}" type="pres">
      <dgm:prSet presAssocID="{035B541C-305A-4D2A-83B3-5FA1BCCC4564}" presName="spaceRect" presStyleCnt="0"/>
      <dgm:spPr/>
    </dgm:pt>
    <dgm:pt modelId="{E6926163-C098-489A-A311-25BABDF9DD28}" type="pres">
      <dgm:prSet presAssocID="{035B541C-305A-4D2A-83B3-5FA1BCCC456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FD9C605-0588-9042-9D24-515B1C5C9E94}" type="presOf" srcId="{13235CAA-F8CF-4D3E-8BED-2CF7561DF4BC}" destId="{E94B18F9-F2E8-4061-BF10-2AB96171C163}" srcOrd="0" destOrd="0" presId="urn:microsoft.com/office/officeart/2018/2/layout/IconLabelList"/>
    <dgm:cxn modelId="{4764C918-584C-4A31-BDEF-E6E466EBB720}" srcId="{2087874C-7ACC-4E81-987B-DE00A5C3A9A9}" destId="{035B541C-305A-4D2A-83B3-5FA1BCCC4564}" srcOrd="3" destOrd="0" parTransId="{D6EC0A56-C464-4351-BDE4-2D23CF3D435B}" sibTransId="{530469B1-54C7-4CD3-8319-06A381E89DB2}"/>
    <dgm:cxn modelId="{AD9EF62F-16C3-E544-9726-0759BD32C457}" type="presOf" srcId="{50475A58-0A21-432B-9E64-E35A84F1A87B}" destId="{4986606D-CCED-49EA-A4C9-599DBDFB3D61}" srcOrd="0" destOrd="0" presId="urn:microsoft.com/office/officeart/2018/2/layout/IconLabelList"/>
    <dgm:cxn modelId="{28A76131-5DDB-364B-8671-A3E836A5DFC7}" type="presOf" srcId="{8B9E8AF1-0E92-406C-AD72-16BA4A70CBF9}" destId="{2B98732B-5E30-4647-9F69-B3BEF189D255}" srcOrd="0" destOrd="0" presId="urn:microsoft.com/office/officeart/2018/2/layout/IconLabelList"/>
    <dgm:cxn modelId="{1A1B7A47-4F5E-9E47-A9A9-1F0068711F03}" type="presOf" srcId="{2087874C-7ACC-4E81-987B-DE00A5C3A9A9}" destId="{8D9E992B-22B2-4440-A302-463D60C55A97}" srcOrd="0" destOrd="0" presId="urn:microsoft.com/office/officeart/2018/2/layout/IconLabelList"/>
    <dgm:cxn modelId="{AD916D57-1F11-4726-9E9E-10F8297DBBA6}" srcId="{2087874C-7ACC-4E81-987B-DE00A5C3A9A9}" destId="{50475A58-0A21-432B-9E64-E35A84F1A87B}" srcOrd="0" destOrd="0" parTransId="{19233D16-15C8-4AA1-9AF7-C04B8DD96C37}" sibTransId="{A6A4CC25-EF2C-4B9D-B7D1-05BD654B1198}"/>
    <dgm:cxn modelId="{96C51A92-5040-4A84-8918-1C2D1BED9B82}" srcId="{2087874C-7ACC-4E81-987B-DE00A5C3A9A9}" destId="{13235CAA-F8CF-4D3E-8BED-2CF7561DF4BC}" srcOrd="1" destOrd="0" parTransId="{87D123DB-6861-4959-90F0-0DD6F43995F6}" sibTransId="{0C2B0400-76CE-4962-9DA7-CC4B4606862F}"/>
    <dgm:cxn modelId="{7D95D1BE-83A7-1C4B-85C2-D4CECD8D22F8}" type="presOf" srcId="{035B541C-305A-4D2A-83B3-5FA1BCCC4564}" destId="{E6926163-C098-489A-A311-25BABDF9DD28}" srcOrd="0" destOrd="0" presId="urn:microsoft.com/office/officeart/2018/2/layout/IconLabelList"/>
    <dgm:cxn modelId="{183787BF-1D69-48E8-B8BD-98DBBCBBE0D7}" srcId="{2087874C-7ACC-4E81-987B-DE00A5C3A9A9}" destId="{8B9E8AF1-0E92-406C-AD72-16BA4A70CBF9}" srcOrd="2" destOrd="0" parTransId="{4B19B3A0-0A59-4304-8807-CECBCBDA8F2A}" sibTransId="{6AD0C305-1C96-4CA0-B3C2-0C4E98FBA853}"/>
    <dgm:cxn modelId="{D30DF03E-70F5-794D-9A89-42641B2F489E}" type="presParOf" srcId="{8D9E992B-22B2-4440-A302-463D60C55A97}" destId="{178FD188-5413-4F2A-8B27-6288C2730253}" srcOrd="0" destOrd="0" presId="urn:microsoft.com/office/officeart/2018/2/layout/IconLabelList"/>
    <dgm:cxn modelId="{AF4C9D01-6CD4-5E4D-8C89-58DA208F9DF3}" type="presParOf" srcId="{178FD188-5413-4F2A-8B27-6288C2730253}" destId="{C7C7F2F9-3026-426A-9E65-0D379C4771B4}" srcOrd="0" destOrd="0" presId="urn:microsoft.com/office/officeart/2018/2/layout/IconLabelList"/>
    <dgm:cxn modelId="{87042255-F1AE-0B44-BA78-D2A85E531E7E}" type="presParOf" srcId="{178FD188-5413-4F2A-8B27-6288C2730253}" destId="{0FD835B3-97C0-4C29-9A7E-5E79D77699F8}" srcOrd="1" destOrd="0" presId="urn:microsoft.com/office/officeart/2018/2/layout/IconLabelList"/>
    <dgm:cxn modelId="{41CBB3E4-0E2C-C948-B4A5-ED0C65D0E2E9}" type="presParOf" srcId="{178FD188-5413-4F2A-8B27-6288C2730253}" destId="{4986606D-CCED-49EA-A4C9-599DBDFB3D61}" srcOrd="2" destOrd="0" presId="urn:microsoft.com/office/officeart/2018/2/layout/IconLabelList"/>
    <dgm:cxn modelId="{9C025F28-8A75-A74D-8835-8EAB19A0D5BC}" type="presParOf" srcId="{8D9E992B-22B2-4440-A302-463D60C55A97}" destId="{1CA36271-1CE8-42DA-9788-449BC3C77CEC}" srcOrd="1" destOrd="0" presId="urn:microsoft.com/office/officeart/2018/2/layout/IconLabelList"/>
    <dgm:cxn modelId="{EC9C87FC-DD99-7A43-85DD-3FA3B18A421B}" type="presParOf" srcId="{8D9E992B-22B2-4440-A302-463D60C55A97}" destId="{B682B6AA-77B8-4E8B-BD26-63FF73FD9AD4}" srcOrd="2" destOrd="0" presId="urn:microsoft.com/office/officeart/2018/2/layout/IconLabelList"/>
    <dgm:cxn modelId="{346472F9-A76E-A04C-8550-CFFD6DE4B683}" type="presParOf" srcId="{B682B6AA-77B8-4E8B-BD26-63FF73FD9AD4}" destId="{907C63AB-BE1C-4163-ABA7-35F79AAFB6A7}" srcOrd="0" destOrd="0" presId="urn:microsoft.com/office/officeart/2018/2/layout/IconLabelList"/>
    <dgm:cxn modelId="{297CD1C6-4695-324D-9ABE-11D5F89FA0E4}" type="presParOf" srcId="{B682B6AA-77B8-4E8B-BD26-63FF73FD9AD4}" destId="{6E858A99-E71C-4CD8-9517-94C32981E3C7}" srcOrd="1" destOrd="0" presId="urn:microsoft.com/office/officeart/2018/2/layout/IconLabelList"/>
    <dgm:cxn modelId="{F3869BBE-457E-8E45-8DBC-4A7018E3E149}" type="presParOf" srcId="{B682B6AA-77B8-4E8B-BD26-63FF73FD9AD4}" destId="{E94B18F9-F2E8-4061-BF10-2AB96171C163}" srcOrd="2" destOrd="0" presId="urn:microsoft.com/office/officeart/2018/2/layout/IconLabelList"/>
    <dgm:cxn modelId="{36709310-E6A3-BC41-BA9A-C68BB8C393A0}" type="presParOf" srcId="{8D9E992B-22B2-4440-A302-463D60C55A97}" destId="{0C5AEC24-BB3E-4657-B6E1-68B5084CF7DB}" srcOrd="3" destOrd="0" presId="urn:microsoft.com/office/officeart/2018/2/layout/IconLabelList"/>
    <dgm:cxn modelId="{A66AA6C8-6AB8-944F-A943-983CAA23D92D}" type="presParOf" srcId="{8D9E992B-22B2-4440-A302-463D60C55A97}" destId="{BD57A2E2-BDA4-4DF6-87D4-C71E421AB284}" srcOrd="4" destOrd="0" presId="urn:microsoft.com/office/officeart/2018/2/layout/IconLabelList"/>
    <dgm:cxn modelId="{902C1C5E-F2D5-1F44-BA33-356B5EAB22C3}" type="presParOf" srcId="{BD57A2E2-BDA4-4DF6-87D4-C71E421AB284}" destId="{F37257D4-FB8D-426C-8819-B2EC26ECEA61}" srcOrd="0" destOrd="0" presId="urn:microsoft.com/office/officeart/2018/2/layout/IconLabelList"/>
    <dgm:cxn modelId="{9A2BCF84-1AD7-9444-95B5-51D34A2825EB}" type="presParOf" srcId="{BD57A2E2-BDA4-4DF6-87D4-C71E421AB284}" destId="{B3DD16EB-8DAA-435E-86E0-7E0B54339CA8}" srcOrd="1" destOrd="0" presId="urn:microsoft.com/office/officeart/2018/2/layout/IconLabelList"/>
    <dgm:cxn modelId="{D76520A5-8277-2B4C-83E3-F4AE1D9D6595}" type="presParOf" srcId="{BD57A2E2-BDA4-4DF6-87D4-C71E421AB284}" destId="{2B98732B-5E30-4647-9F69-B3BEF189D255}" srcOrd="2" destOrd="0" presId="urn:microsoft.com/office/officeart/2018/2/layout/IconLabelList"/>
    <dgm:cxn modelId="{27B62B05-B4A5-F94D-A371-DF1C5EC82941}" type="presParOf" srcId="{8D9E992B-22B2-4440-A302-463D60C55A97}" destId="{C674201C-B448-4235-A59D-D3F547B489B0}" srcOrd="5" destOrd="0" presId="urn:microsoft.com/office/officeart/2018/2/layout/IconLabelList"/>
    <dgm:cxn modelId="{67E13EED-D73B-D340-B177-AFEBF3AA4983}" type="presParOf" srcId="{8D9E992B-22B2-4440-A302-463D60C55A97}" destId="{2ABBB5C5-27D1-4579-B005-43F3349CBB72}" srcOrd="6" destOrd="0" presId="urn:microsoft.com/office/officeart/2018/2/layout/IconLabelList"/>
    <dgm:cxn modelId="{B2F60A1E-787D-CB44-87CF-E85CE99926CD}" type="presParOf" srcId="{2ABBB5C5-27D1-4579-B005-43F3349CBB72}" destId="{5EC1CD3B-7E1E-47BF-BB13-93EFBE0800F9}" srcOrd="0" destOrd="0" presId="urn:microsoft.com/office/officeart/2018/2/layout/IconLabelList"/>
    <dgm:cxn modelId="{226982DD-7ADC-A24A-AAE0-AB43A7B56431}" type="presParOf" srcId="{2ABBB5C5-27D1-4579-B005-43F3349CBB72}" destId="{49E8B3FE-7FD2-49C0-84E0-9D711BA36260}" srcOrd="1" destOrd="0" presId="urn:microsoft.com/office/officeart/2018/2/layout/IconLabelList"/>
    <dgm:cxn modelId="{9F13CD77-686E-924E-A798-7702BCB76B30}" type="presParOf" srcId="{2ABBB5C5-27D1-4579-B005-43F3349CBB72}" destId="{E6926163-C098-489A-A311-25BABDF9DD2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077BF2C-0C9E-4B42-8DD7-AD2A953343CD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36F17FF-4778-44BA-9D77-4BE2C05F56CA}">
      <dgm:prSet/>
      <dgm:spPr/>
      <dgm:t>
        <a:bodyPr/>
        <a:lstStyle/>
        <a:p>
          <a:r>
            <a:rPr lang="en-US"/>
            <a:t>1. Birth rates falling for decades</a:t>
          </a:r>
        </a:p>
      </dgm:t>
    </dgm:pt>
    <dgm:pt modelId="{75D03B03-39D0-4AD7-B96D-76913E9405FC}" type="parTrans" cxnId="{8F66E48D-9A9C-476B-BC9E-7BE65F45E1A7}">
      <dgm:prSet/>
      <dgm:spPr/>
      <dgm:t>
        <a:bodyPr/>
        <a:lstStyle/>
        <a:p>
          <a:endParaRPr lang="en-US"/>
        </a:p>
      </dgm:t>
    </dgm:pt>
    <dgm:pt modelId="{B78AC5F4-3049-4BDC-BAA4-B6782CCDE0CD}" type="sibTrans" cxnId="{8F66E48D-9A9C-476B-BC9E-7BE65F45E1A7}">
      <dgm:prSet/>
      <dgm:spPr/>
      <dgm:t>
        <a:bodyPr/>
        <a:lstStyle/>
        <a:p>
          <a:endParaRPr lang="en-US"/>
        </a:p>
      </dgm:t>
    </dgm:pt>
    <dgm:pt modelId="{81531981-81B7-41AD-8954-CB7EC78400C0}">
      <dgm:prSet/>
      <dgm:spPr/>
      <dgm:t>
        <a:bodyPr/>
        <a:lstStyle/>
        <a:p>
          <a:r>
            <a:rPr lang="en-US"/>
            <a:t>2. Immigration rises when births drop</a:t>
          </a:r>
        </a:p>
      </dgm:t>
    </dgm:pt>
    <dgm:pt modelId="{D1B08A7C-E85B-461E-97E0-0C2213E7A7CB}" type="parTrans" cxnId="{6528BF46-D756-4DE3-9A47-A379F36952A7}">
      <dgm:prSet/>
      <dgm:spPr/>
      <dgm:t>
        <a:bodyPr/>
        <a:lstStyle/>
        <a:p>
          <a:endParaRPr lang="en-US"/>
        </a:p>
      </dgm:t>
    </dgm:pt>
    <dgm:pt modelId="{FB527695-59CD-4C77-8EEC-7781D4ECFDE3}" type="sibTrans" cxnId="{6528BF46-D756-4DE3-9A47-A379F36952A7}">
      <dgm:prSet/>
      <dgm:spPr/>
      <dgm:t>
        <a:bodyPr/>
        <a:lstStyle/>
        <a:p>
          <a:endParaRPr lang="en-US"/>
        </a:p>
      </dgm:t>
    </dgm:pt>
    <dgm:pt modelId="{4AE914A4-ED84-4F06-9B46-057C9201E4E1}">
      <dgm:prSet/>
      <dgm:spPr/>
      <dgm:t>
        <a:bodyPr/>
        <a:lstStyle/>
        <a:p>
          <a:r>
            <a:rPr lang="en-US"/>
            <a:t>3. HDB resale prices continue rising</a:t>
          </a:r>
        </a:p>
      </dgm:t>
    </dgm:pt>
    <dgm:pt modelId="{791396BE-51B2-469D-894D-8145A5B1D36E}" type="parTrans" cxnId="{EDE4587A-A76E-4916-AC68-4865242DD941}">
      <dgm:prSet/>
      <dgm:spPr/>
      <dgm:t>
        <a:bodyPr/>
        <a:lstStyle/>
        <a:p>
          <a:endParaRPr lang="en-US"/>
        </a:p>
      </dgm:t>
    </dgm:pt>
    <dgm:pt modelId="{BB3EF8EA-1ECB-4B18-A917-A800E0B61FF0}" type="sibTrans" cxnId="{EDE4587A-A76E-4916-AC68-4865242DD941}">
      <dgm:prSet/>
      <dgm:spPr/>
      <dgm:t>
        <a:bodyPr/>
        <a:lstStyle/>
        <a:p>
          <a:endParaRPr lang="en-US"/>
        </a:p>
      </dgm:t>
    </dgm:pt>
    <dgm:pt modelId="{3D370CE7-26B4-42B3-B0B6-68CEEF6A8D4A}">
      <dgm:prSet/>
      <dgm:spPr/>
      <dgm:t>
        <a:bodyPr/>
        <a:lstStyle/>
        <a:p>
          <a:r>
            <a:rPr lang="en-US"/>
            <a:t>Immigration stabilises population → supports housing demand.</a:t>
          </a:r>
        </a:p>
      </dgm:t>
    </dgm:pt>
    <dgm:pt modelId="{4B19E5A7-3EE3-441B-A85F-5D3E176800B4}" type="parTrans" cxnId="{54295283-60EB-43C8-B20E-C23A1BD5168F}">
      <dgm:prSet/>
      <dgm:spPr/>
      <dgm:t>
        <a:bodyPr/>
        <a:lstStyle/>
        <a:p>
          <a:endParaRPr lang="en-US"/>
        </a:p>
      </dgm:t>
    </dgm:pt>
    <dgm:pt modelId="{09A54591-02C7-450D-8BD5-75BA3CF2F49B}" type="sibTrans" cxnId="{54295283-60EB-43C8-B20E-C23A1BD5168F}">
      <dgm:prSet/>
      <dgm:spPr/>
      <dgm:t>
        <a:bodyPr/>
        <a:lstStyle/>
        <a:p>
          <a:endParaRPr lang="en-US"/>
        </a:p>
      </dgm:t>
    </dgm:pt>
    <dgm:pt modelId="{77072E1C-8800-B341-B044-33B78658BB92}" type="pres">
      <dgm:prSet presAssocID="{B077BF2C-0C9E-4B42-8DD7-AD2A953343CD}" presName="matrix" presStyleCnt="0">
        <dgm:presLayoutVars>
          <dgm:chMax val="1"/>
          <dgm:dir/>
          <dgm:resizeHandles val="exact"/>
        </dgm:presLayoutVars>
      </dgm:prSet>
      <dgm:spPr/>
    </dgm:pt>
    <dgm:pt modelId="{122A7161-3964-884A-84A4-E41D51C5115A}" type="pres">
      <dgm:prSet presAssocID="{B077BF2C-0C9E-4B42-8DD7-AD2A953343CD}" presName="diamond" presStyleLbl="bgShp" presStyleIdx="0" presStyleCnt="1"/>
      <dgm:spPr/>
    </dgm:pt>
    <dgm:pt modelId="{C9501999-16D8-364D-B037-F48DD03394EF}" type="pres">
      <dgm:prSet presAssocID="{B077BF2C-0C9E-4B42-8DD7-AD2A953343CD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FC383A5F-467F-224F-91F1-0572B85A267C}" type="pres">
      <dgm:prSet presAssocID="{B077BF2C-0C9E-4B42-8DD7-AD2A953343CD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7ED4DAE-B12D-324A-B17F-5A24104BBC1D}" type="pres">
      <dgm:prSet presAssocID="{B077BF2C-0C9E-4B42-8DD7-AD2A953343CD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B415930-4410-0C48-A9CC-A1C15282909E}" type="pres">
      <dgm:prSet presAssocID="{B077BF2C-0C9E-4B42-8DD7-AD2A953343CD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2F55C03-A903-2F4D-9EB2-FCF922064B48}" type="presOf" srcId="{B077BF2C-0C9E-4B42-8DD7-AD2A953343CD}" destId="{77072E1C-8800-B341-B044-33B78658BB92}" srcOrd="0" destOrd="0" presId="urn:microsoft.com/office/officeart/2005/8/layout/matrix3"/>
    <dgm:cxn modelId="{6528BF46-D756-4DE3-9A47-A379F36952A7}" srcId="{B077BF2C-0C9E-4B42-8DD7-AD2A953343CD}" destId="{81531981-81B7-41AD-8954-CB7EC78400C0}" srcOrd="1" destOrd="0" parTransId="{D1B08A7C-E85B-461E-97E0-0C2213E7A7CB}" sibTransId="{FB527695-59CD-4C77-8EEC-7781D4ECFDE3}"/>
    <dgm:cxn modelId="{61F5344B-91C0-1B4F-8069-4B70C14678F2}" type="presOf" srcId="{4AE914A4-ED84-4F06-9B46-057C9201E4E1}" destId="{27ED4DAE-B12D-324A-B17F-5A24104BBC1D}" srcOrd="0" destOrd="0" presId="urn:microsoft.com/office/officeart/2005/8/layout/matrix3"/>
    <dgm:cxn modelId="{0A2D9B53-2FF3-1E46-9548-AD80CE2BFB42}" type="presOf" srcId="{81531981-81B7-41AD-8954-CB7EC78400C0}" destId="{FC383A5F-467F-224F-91F1-0572B85A267C}" srcOrd="0" destOrd="0" presId="urn:microsoft.com/office/officeart/2005/8/layout/matrix3"/>
    <dgm:cxn modelId="{0074F964-09F0-FD47-A194-3CC8507588E4}" type="presOf" srcId="{3D370CE7-26B4-42B3-B0B6-68CEEF6A8D4A}" destId="{8B415930-4410-0C48-A9CC-A1C15282909E}" srcOrd="0" destOrd="0" presId="urn:microsoft.com/office/officeart/2005/8/layout/matrix3"/>
    <dgm:cxn modelId="{EDE4587A-A76E-4916-AC68-4865242DD941}" srcId="{B077BF2C-0C9E-4B42-8DD7-AD2A953343CD}" destId="{4AE914A4-ED84-4F06-9B46-057C9201E4E1}" srcOrd="2" destOrd="0" parTransId="{791396BE-51B2-469D-894D-8145A5B1D36E}" sibTransId="{BB3EF8EA-1ECB-4B18-A917-A800E0B61FF0}"/>
    <dgm:cxn modelId="{54295283-60EB-43C8-B20E-C23A1BD5168F}" srcId="{B077BF2C-0C9E-4B42-8DD7-AD2A953343CD}" destId="{3D370CE7-26B4-42B3-B0B6-68CEEF6A8D4A}" srcOrd="3" destOrd="0" parTransId="{4B19E5A7-3EE3-441B-A85F-5D3E176800B4}" sibTransId="{09A54591-02C7-450D-8BD5-75BA3CF2F49B}"/>
    <dgm:cxn modelId="{8F66E48D-9A9C-476B-BC9E-7BE65F45E1A7}" srcId="{B077BF2C-0C9E-4B42-8DD7-AD2A953343CD}" destId="{836F17FF-4778-44BA-9D77-4BE2C05F56CA}" srcOrd="0" destOrd="0" parTransId="{75D03B03-39D0-4AD7-B96D-76913E9405FC}" sibTransId="{B78AC5F4-3049-4BDC-BAA4-B6782CCDE0CD}"/>
    <dgm:cxn modelId="{01D520BF-10A3-2343-A432-5333D3B2303A}" type="presOf" srcId="{836F17FF-4778-44BA-9D77-4BE2C05F56CA}" destId="{C9501999-16D8-364D-B037-F48DD03394EF}" srcOrd="0" destOrd="0" presId="urn:microsoft.com/office/officeart/2005/8/layout/matrix3"/>
    <dgm:cxn modelId="{0C5A4265-5898-ED48-BC5A-F2024F17CFAC}" type="presParOf" srcId="{77072E1C-8800-B341-B044-33B78658BB92}" destId="{122A7161-3964-884A-84A4-E41D51C5115A}" srcOrd="0" destOrd="0" presId="urn:microsoft.com/office/officeart/2005/8/layout/matrix3"/>
    <dgm:cxn modelId="{48F11C6A-E47C-6D40-ACF7-0F56EB933620}" type="presParOf" srcId="{77072E1C-8800-B341-B044-33B78658BB92}" destId="{C9501999-16D8-364D-B037-F48DD03394EF}" srcOrd="1" destOrd="0" presId="urn:microsoft.com/office/officeart/2005/8/layout/matrix3"/>
    <dgm:cxn modelId="{E5BE3F08-2A98-9D45-8997-ACD07A8D7DAE}" type="presParOf" srcId="{77072E1C-8800-B341-B044-33B78658BB92}" destId="{FC383A5F-467F-224F-91F1-0572B85A267C}" srcOrd="2" destOrd="0" presId="urn:microsoft.com/office/officeart/2005/8/layout/matrix3"/>
    <dgm:cxn modelId="{897DF2E4-D333-4841-8291-FA8EAEAEDEA7}" type="presParOf" srcId="{77072E1C-8800-B341-B044-33B78658BB92}" destId="{27ED4DAE-B12D-324A-B17F-5A24104BBC1D}" srcOrd="3" destOrd="0" presId="urn:microsoft.com/office/officeart/2005/8/layout/matrix3"/>
    <dgm:cxn modelId="{7827BA4A-950A-654C-A690-6598C66C95EC}" type="presParOf" srcId="{77072E1C-8800-B341-B044-33B78658BB92}" destId="{8B415930-4410-0C48-A9CC-A1C15282909E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535BD9F-54AA-4BEF-95EE-5A5C0BBB28C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E01C4EA7-99F4-4ED5-A555-9DCD196BDE1D}">
      <dgm:prSet/>
      <dgm:spPr/>
      <dgm:t>
        <a:bodyPr/>
        <a:lstStyle/>
        <a:p>
          <a:r>
            <a:rPr lang="en-US"/>
            <a:t>Simple forecast using birth rates, immigration, HDB prices.</a:t>
          </a:r>
        </a:p>
      </dgm:t>
    </dgm:pt>
    <dgm:pt modelId="{2F9918BC-88D3-4FC2-9DEB-B1774AD0BF04}" type="parTrans" cxnId="{850E6652-4E9D-4A08-8B9C-D43B117A835D}">
      <dgm:prSet/>
      <dgm:spPr/>
      <dgm:t>
        <a:bodyPr/>
        <a:lstStyle/>
        <a:p>
          <a:endParaRPr lang="en-US"/>
        </a:p>
      </dgm:t>
    </dgm:pt>
    <dgm:pt modelId="{E83DEE4F-3EEB-4B4F-B252-D7C8A2A82241}" type="sibTrans" cxnId="{850E6652-4E9D-4A08-8B9C-D43B117A835D}">
      <dgm:prSet/>
      <dgm:spPr/>
      <dgm:t>
        <a:bodyPr/>
        <a:lstStyle/>
        <a:p>
          <a:endParaRPr lang="en-US"/>
        </a:p>
      </dgm:t>
    </dgm:pt>
    <dgm:pt modelId="{AB0DD858-740E-4FB2-9DC7-AB9FB99A0EF0}">
      <dgm:prSet/>
      <dgm:spPr/>
      <dgm:t>
        <a:bodyPr/>
        <a:lstStyle/>
        <a:p>
          <a:r>
            <a:rPr lang="en-US"/>
            <a:t>Prediction: Immigration will continue driving population &amp; housing stability.</a:t>
          </a:r>
        </a:p>
      </dgm:t>
    </dgm:pt>
    <dgm:pt modelId="{F974BC0C-D627-474D-8A50-416131344A6A}" type="parTrans" cxnId="{FDD63125-384C-4F71-BAB2-01461AD9B1E9}">
      <dgm:prSet/>
      <dgm:spPr/>
      <dgm:t>
        <a:bodyPr/>
        <a:lstStyle/>
        <a:p>
          <a:endParaRPr lang="en-US"/>
        </a:p>
      </dgm:t>
    </dgm:pt>
    <dgm:pt modelId="{90AFF00C-C361-4E46-B5FC-5BABCA3865D4}" type="sibTrans" cxnId="{FDD63125-384C-4F71-BAB2-01461AD9B1E9}">
      <dgm:prSet/>
      <dgm:spPr/>
      <dgm:t>
        <a:bodyPr/>
        <a:lstStyle/>
        <a:p>
          <a:endParaRPr lang="en-US"/>
        </a:p>
      </dgm:t>
    </dgm:pt>
    <dgm:pt modelId="{7795491B-3A48-44B2-B1EB-61C3080B10B6}" type="pres">
      <dgm:prSet presAssocID="{1535BD9F-54AA-4BEF-95EE-5A5C0BBB28C7}" presName="root" presStyleCnt="0">
        <dgm:presLayoutVars>
          <dgm:dir/>
          <dgm:resizeHandles val="exact"/>
        </dgm:presLayoutVars>
      </dgm:prSet>
      <dgm:spPr/>
    </dgm:pt>
    <dgm:pt modelId="{19820FB1-9EF9-444C-8427-9BC230DD710E}" type="pres">
      <dgm:prSet presAssocID="{E01C4EA7-99F4-4ED5-A555-9DCD196BDE1D}" presName="compNode" presStyleCnt="0"/>
      <dgm:spPr/>
    </dgm:pt>
    <dgm:pt modelId="{D3A82BC3-2621-4ABC-9938-03A5B99C5145}" type="pres">
      <dgm:prSet presAssocID="{E01C4EA7-99F4-4ED5-A555-9DCD196BDE1D}" presName="bgRect" presStyleLbl="bgShp" presStyleIdx="0" presStyleCnt="2"/>
      <dgm:spPr/>
    </dgm:pt>
    <dgm:pt modelId="{DEE384D0-53F3-4AED-8253-4A9261218256}" type="pres">
      <dgm:prSet presAssocID="{E01C4EA7-99F4-4ED5-A555-9DCD196BDE1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ild with Balloon"/>
        </a:ext>
      </dgm:extLst>
    </dgm:pt>
    <dgm:pt modelId="{8E5EF1B6-52DB-4DA6-8F78-A5789162CDED}" type="pres">
      <dgm:prSet presAssocID="{E01C4EA7-99F4-4ED5-A555-9DCD196BDE1D}" presName="spaceRect" presStyleCnt="0"/>
      <dgm:spPr/>
    </dgm:pt>
    <dgm:pt modelId="{22CEAFB2-8A95-45D2-8F09-7E9CA5A981E3}" type="pres">
      <dgm:prSet presAssocID="{E01C4EA7-99F4-4ED5-A555-9DCD196BDE1D}" presName="parTx" presStyleLbl="revTx" presStyleIdx="0" presStyleCnt="2">
        <dgm:presLayoutVars>
          <dgm:chMax val="0"/>
          <dgm:chPref val="0"/>
        </dgm:presLayoutVars>
      </dgm:prSet>
      <dgm:spPr/>
    </dgm:pt>
    <dgm:pt modelId="{DE394911-DC90-48D6-AE23-E9AEA269E4EA}" type="pres">
      <dgm:prSet presAssocID="{E83DEE4F-3EEB-4B4F-B252-D7C8A2A82241}" presName="sibTrans" presStyleCnt="0"/>
      <dgm:spPr/>
    </dgm:pt>
    <dgm:pt modelId="{2A7752D2-80AF-4F18-ADA2-D370BBA8790B}" type="pres">
      <dgm:prSet presAssocID="{AB0DD858-740E-4FB2-9DC7-AB9FB99A0EF0}" presName="compNode" presStyleCnt="0"/>
      <dgm:spPr/>
    </dgm:pt>
    <dgm:pt modelId="{FD47B30F-5D29-4F88-AE87-50B893269E89}" type="pres">
      <dgm:prSet presAssocID="{AB0DD858-740E-4FB2-9DC7-AB9FB99A0EF0}" presName="bgRect" presStyleLbl="bgShp" presStyleIdx="1" presStyleCnt="2"/>
      <dgm:spPr/>
    </dgm:pt>
    <dgm:pt modelId="{334D5CD5-88F3-439E-B534-ED148B46996D}" type="pres">
      <dgm:prSet presAssocID="{AB0DD858-740E-4FB2-9DC7-AB9FB99A0EF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2BAB86B0-2519-40FD-B0BE-FE1E80765121}" type="pres">
      <dgm:prSet presAssocID="{AB0DD858-740E-4FB2-9DC7-AB9FB99A0EF0}" presName="spaceRect" presStyleCnt="0"/>
      <dgm:spPr/>
    </dgm:pt>
    <dgm:pt modelId="{CE8D38E0-894F-4CC7-9D9B-48DF58ABE70C}" type="pres">
      <dgm:prSet presAssocID="{AB0DD858-740E-4FB2-9DC7-AB9FB99A0EF0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FDD63125-384C-4F71-BAB2-01461AD9B1E9}" srcId="{1535BD9F-54AA-4BEF-95EE-5A5C0BBB28C7}" destId="{AB0DD858-740E-4FB2-9DC7-AB9FB99A0EF0}" srcOrd="1" destOrd="0" parTransId="{F974BC0C-D627-474D-8A50-416131344A6A}" sibTransId="{90AFF00C-C361-4E46-B5FC-5BABCA3865D4}"/>
    <dgm:cxn modelId="{7057932C-17F7-4C54-9BEF-1B2D7C6311AD}" type="presOf" srcId="{AB0DD858-740E-4FB2-9DC7-AB9FB99A0EF0}" destId="{CE8D38E0-894F-4CC7-9D9B-48DF58ABE70C}" srcOrd="0" destOrd="0" presId="urn:microsoft.com/office/officeart/2018/2/layout/IconVerticalSolidList"/>
    <dgm:cxn modelId="{28587A51-0572-4F6F-8727-E6EA5290683A}" type="presOf" srcId="{E01C4EA7-99F4-4ED5-A555-9DCD196BDE1D}" destId="{22CEAFB2-8A95-45D2-8F09-7E9CA5A981E3}" srcOrd="0" destOrd="0" presId="urn:microsoft.com/office/officeart/2018/2/layout/IconVerticalSolidList"/>
    <dgm:cxn modelId="{850E6652-4E9D-4A08-8B9C-D43B117A835D}" srcId="{1535BD9F-54AA-4BEF-95EE-5A5C0BBB28C7}" destId="{E01C4EA7-99F4-4ED5-A555-9DCD196BDE1D}" srcOrd="0" destOrd="0" parTransId="{2F9918BC-88D3-4FC2-9DEB-B1774AD0BF04}" sibTransId="{E83DEE4F-3EEB-4B4F-B252-D7C8A2A82241}"/>
    <dgm:cxn modelId="{8BE62A8D-9710-48B8-862D-EE839D5A4EBD}" type="presOf" srcId="{1535BD9F-54AA-4BEF-95EE-5A5C0BBB28C7}" destId="{7795491B-3A48-44B2-B1EB-61C3080B10B6}" srcOrd="0" destOrd="0" presId="urn:microsoft.com/office/officeart/2018/2/layout/IconVerticalSolidList"/>
    <dgm:cxn modelId="{BCFE8CBB-65DC-4F4C-A353-21DE0E6DE2BF}" type="presParOf" srcId="{7795491B-3A48-44B2-B1EB-61C3080B10B6}" destId="{19820FB1-9EF9-444C-8427-9BC230DD710E}" srcOrd="0" destOrd="0" presId="urn:microsoft.com/office/officeart/2018/2/layout/IconVerticalSolidList"/>
    <dgm:cxn modelId="{EEBBD392-9C02-4827-ABB3-D6A494362D1D}" type="presParOf" srcId="{19820FB1-9EF9-444C-8427-9BC230DD710E}" destId="{D3A82BC3-2621-4ABC-9938-03A5B99C5145}" srcOrd="0" destOrd="0" presId="urn:microsoft.com/office/officeart/2018/2/layout/IconVerticalSolidList"/>
    <dgm:cxn modelId="{A8EE183C-EB53-43F9-9FA6-EBDB12474C61}" type="presParOf" srcId="{19820FB1-9EF9-444C-8427-9BC230DD710E}" destId="{DEE384D0-53F3-4AED-8253-4A9261218256}" srcOrd="1" destOrd="0" presId="urn:microsoft.com/office/officeart/2018/2/layout/IconVerticalSolidList"/>
    <dgm:cxn modelId="{BE1608E0-7F2F-4459-ABFA-0455A2AB6E49}" type="presParOf" srcId="{19820FB1-9EF9-444C-8427-9BC230DD710E}" destId="{8E5EF1B6-52DB-4DA6-8F78-A5789162CDED}" srcOrd="2" destOrd="0" presId="urn:microsoft.com/office/officeart/2018/2/layout/IconVerticalSolidList"/>
    <dgm:cxn modelId="{E749D284-BF77-444B-81D8-A93B7F12DEAB}" type="presParOf" srcId="{19820FB1-9EF9-444C-8427-9BC230DD710E}" destId="{22CEAFB2-8A95-45D2-8F09-7E9CA5A981E3}" srcOrd="3" destOrd="0" presId="urn:microsoft.com/office/officeart/2018/2/layout/IconVerticalSolidList"/>
    <dgm:cxn modelId="{2A716FCF-82CF-4229-BAA2-AEA2C2F0E74C}" type="presParOf" srcId="{7795491B-3A48-44B2-B1EB-61C3080B10B6}" destId="{DE394911-DC90-48D6-AE23-E9AEA269E4EA}" srcOrd="1" destOrd="0" presId="urn:microsoft.com/office/officeart/2018/2/layout/IconVerticalSolidList"/>
    <dgm:cxn modelId="{FF654C2A-344E-4624-A397-1F0A57DDAD27}" type="presParOf" srcId="{7795491B-3A48-44B2-B1EB-61C3080B10B6}" destId="{2A7752D2-80AF-4F18-ADA2-D370BBA8790B}" srcOrd="2" destOrd="0" presId="urn:microsoft.com/office/officeart/2018/2/layout/IconVerticalSolidList"/>
    <dgm:cxn modelId="{919ECE4D-41DA-41EA-B6A8-E48142F0B52F}" type="presParOf" srcId="{2A7752D2-80AF-4F18-ADA2-D370BBA8790B}" destId="{FD47B30F-5D29-4F88-AE87-50B893269E89}" srcOrd="0" destOrd="0" presId="urn:microsoft.com/office/officeart/2018/2/layout/IconVerticalSolidList"/>
    <dgm:cxn modelId="{0D94FBBF-BE48-4E2E-AA02-DEE9520C9B75}" type="presParOf" srcId="{2A7752D2-80AF-4F18-ADA2-D370BBA8790B}" destId="{334D5CD5-88F3-439E-B534-ED148B46996D}" srcOrd="1" destOrd="0" presId="urn:microsoft.com/office/officeart/2018/2/layout/IconVerticalSolidList"/>
    <dgm:cxn modelId="{302A8A08-C12B-43FB-9122-DB7210367A63}" type="presParOf" srcId="{2A7752D2-80AF-4F18-ADA2-D370BBA8790B}" destId="{2BAB86B0-2519-40FD-B0BE-FE1E80765121}" srcOrd="2" destOrd="0" presId="urn:microsoft.com/office/officeart/2018/2/layout/IconVerticalSolidList"/>
    <dgm:cxn modelId="{F5BE3BB0-CC1A-4BCA-AE62-F43258A3C189}" type="presParOf" srcId="{2A7752D2-80AF-4F18-ADA2-D370BBA8790B}" destId="{CE8D38E0-894F-4CC7-9D9B-48DF58ABE70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714BFC1-797C-492F-9A52-9D4C53C195D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608E419-E977-44EB-8E5B-71F345B71AB6}">
      <dgm:prSet/>
      <dgm:spPr/>
      <dgm:t>
        <a:bodyPr/>
        <a:lstStyle/>
        <a:p>
          <a:r>
            <a:rPr lang="en-US"/>
            <a:t>Strengths:</a:t>
          </a:r>
        </a:p>
      </dgm:t>
    </dgm:pt>
    <dgm:pt modelId="{3F403924-4E40-4223-BC6F-F0AA9B854A72}" type="parTrans" cxnId="{C21B068D-324D-444F-803B-70478D9C3BBE}">
      <dgm:prSet/>
      <dgm:spPr/>
      <dgm:t>
        <a:bodyPr/>
        <a:lstStyle/>
        <a:p>
          <a:endParaRPr lang="en-US"/>
        </a:p>
      </dgm:t>
    </dgm:pt>
    <dgm:pt modelId="{3083DB7A-2BF2-449B-874B-C55781F9833D}" type="sibTrans" cxnId="{C21B068D-324D-444F-803B-70478D9C3BBE}">
      <dgm:prSet/>
      <dgm:spPr/>
      <dgm:t>
        <a:bodyPr/>
        <a:lstStyle/>
        <a:p>
          <a:endParaRPr lang="en-US"/>
        </a:p>
      </dgm:t>
    </dgm:pt>
    <dgm:pt modelId="{7342E2D0-46BA-458E-B524-0D1D5952DD73}">
      <dgm:prSet/>
      <dgm:spPr/>
      <dgm:t>
        <a:bodyPr/>
        <a:lstStyle/>
        <a:p>
          <a:r>
            <a:rPr lang="en-US"/>
            <a:t>- Clean datasets</a:t>
          </a:r>
        </a:p>
      </dgm:t>
    </dgm:pt>
    <dgm:pt modelId="{187A4464-9DD0-46F9-9CF8-A0F1587595A6}" type="parTrans" cxnId="{78FF233E-E5BE-4A51-8827-9BDA2BBBF986}">
      <dgm:prSet/>
      <dgm:spPr/>
      <dgm:t>
        <a:bodyPr/>
        <a:lstStyle/>
        <a:p>
          <a:endParaRPr lang="en-US"/>
        </a:p>
      </dgm:t>
    </dgm:pt>
    <dgm:pt modelId="{473F2341-3A93-4EFE-9334-5979D90236BC}" type="sibTrans" cxnId="{78FF233E-E5BE-4A51-8827-9BDA2BBBF986}">
      <dgm:prSet/>
      <dgm:spPr/>
      <dgm:t>
        <a:bodyPr/>
        <a:lstStyle/>
        <a:p>
          <a:endParaRPr lang="en-US"/>
        </a:p>
      </dgm:t>
    </dgm:pt>
    <dgm:pt modelId="{EA1EBF4D-B21B-45A2-A1EB-AD0450EF686F}">
      <dgm:prSet/>
      <dgm:spPr/>
      <dgm:t>
        <a:bodyPr/>
        <a:lstStyle/>
        <a:p>
          <a:r>
            <a:rPr lang="en-US"/>
            <a:t>- Strong long-term trends</a:t>
          </a:r>
        </a:p>
      </dgm:t>
    </dgm:pt>
    <dgm:pt modelId="{5C2F4A6C-FBBA-482B-8CCE-F0C3E028973B}" type="parTrans" cxnId="{D7A9532D-6DDE-4C59-851F-5B2F8B94FE34}">
      <dgm:prSet/>
      <dgm:spPr/>
      <dgm:t>
        <a:bodyPr/>
        <a:lstStyle/>
        <a:p>
          <a:endParaRPr lang="en-US"/>
        </a:p>
      </dgm:t>
    </dgm:pt>
    <dgm:pt modelId="{CB1B0587-5BB3-4E2F-ABC0-8831F45FAA47}" type="sibTrans" cxnId="{D7A9532D-6DDE-4C59-851F-5B2F8B94FE34}">
      <dgm:prSet/>
      <dgm:spPr/>
      <dgm:t>
        <a:bodyPr/>
        <a:lstStyle/>
        <a:p>
          <a:endParaRPr lang="en-US"/>
        </a:p>
      </dgm:t>
    </dgm:pt>
    <dgm:pt modelId="{250D1B80-ECEC-4776-AD99-255E0411E562}">
      <dgm:prSet/>
      <dgm:spPr/>
      <dgm:t>
        <a:bodyPr/>
        <a:lstStyle/>
        <a:p>
          <a:r>
            <a:rPr lang="en-US"/>
            <a:t>Limitations:</a:t>
          </a:r>
        </a:p>
      </dgm:t>
    </dgm:pt>
    <dgm:pt modelId="{7895C466-44AF-4BCE-B07D-CE29B8CFA682}" type="parTrans" cxnId="{9BB4A7FC-1153-44AC-8300-93F142B05DBC}">
      <dgm:prSet/>
      <dgm:spPr/>
      <dgm:t>
        <a:bodyPr/>
        <a:lstStyle/>
        <a:p>
          <a:endParaRPr lang="en-US"/>
        </a:p>
      </dgm:t>
    </dgm:pt>
    <dgm:pt modelId="{057BAF43-7359-4C92-8632-5ED6801C674E}" type="sibTrans" cxnId="{9BB4A7FC-1153-44AC-8300-93F142B05DBC}">
      <dgm:prSet/>
      <dgm:spPr/>
      <dgm:t>
        <a:bodyPr/>
        <a:lstStyle/>
        <a:p>
          <a:endParaRPr lang="en-US"/>
        </a:p>
      </dgm:t>
    </dgm:pt>
    <dgm:pt modelId="{1F293F73-7460-4A22-90B8-94EF4C903210}">
      <dgm:prSet/>
      <dgm:spPr/>
      <dgm:t>
        <a:bodyPr/>
        <a:lstStyle/>
        <a:p>
          <a:r>
            <a:rPr lang="en-US"/>
            <a:t>- Policy shifts</a:t>
          </a:r>
        </a:p>
      </dgm:t>
    </dgm:pt>
    <dgm:pt modelId="{8F3E4E6E-AEC9-4DDD-AE35-06DD49A03B8A}" type="parTrans" cxnId="{149B3864-C6A7-41FB-A4CA-200B4D49C8CA}">
      <dgm:prSet/>
      <dgm:spPr/>
      <dgm:t>
        <a:bodyPr/>
        <a:lstStyle/>
        <a:p>
          <a:endParaRPr lang="en-US"/>
        </a:p>
      </dgm:t>
    </dgm:pt>
    <dgm:pt modelId="{3A725836-94E2-4B78-B16F-89557DF9D319}" type="sibTrans" cxnId="{149B3864-C6A7-41FB-A4CA-200B4D49C8CA}">
      <dgm:prSet/>
      <dgm:spPr/>
      <dgm:t>
        <a:bodyPr/>
        <a:lstStyle/>
        <a:p>
          <a:endParaRPr lang="en-US"/>
        </a:p>
      </dgm:t>
    </dgm:pt>
    <dgm:pt modelId="{C8F83616-1B84-4C66-B42F-5C9BDD25DA94}">
      <dgm:prSet/>
      <dgm:spPr/>
      <dgm:t>
        <a:bodyPr/>
        <a:lstStyle/>
        <a:p>
          <a:r>
            <a:rPr lang="en-US"/>
            <a:t>- Economic cycles</a:t>
          </a:r>
        </a:p>
      </dgm:t>
    </dgm:pt>
    <dgm:pt modelId="{F7734E36-80EE-4AE7-A8AC-42508AF0633C}" type="parTrans" cxnId="{1122D09A-5217-4EF0-A4AA-0C2E920EDEC9}">
      <dgm:prSet/>
      <dgm:spPr/>
      <dgm:t>
        <a:bodyPr/>
        <a:lstStyle/>
        <a:p>
          <a:endParaRPr lang="en-US"/>
        </a:p>
      </dgm:t>
    </dgm:pt>
    <dgm:pt modelId="{255673C5-8540-461F-AC8F-554688C3B744}" type="sibTrans" cxnId="{1122D09A-5217-4EF0-A4AA-0C2E920EDEC9}">
      <dgm:prSet/>
      <dgm:spPr/>
      <dgm:t>
        <a:bodyPr/>
        <a:lstStyle/>
        <a:p>
          <a:endParaRPr lang="en-US"/>
        </a:p>
      </dgm:t>
    </dgm:pt>
    <dgm:pt modelId="{ADA6C011-06D8-4D3D-9C5A-847C7550DD7B}">
      <dgm:prSet/>
      <dgm:spPr/>
      <dgm:t>
        <a:bodyPr/>
        <a:lstStyle/>
        <a:p>
          <a:r>
            <a:rPr lang="en-US"/>
            <a:t>- Correlation ≠ causation</a:t>
          </a:r>
        </a:p>
      </dgm:t>
    </dgm:pt>
    <dgm:pt modelId="{D78CF1CA-B628-4B38-BA1B-FC0BEA422F90}" type="parTrans" cxnId="{84F009F4-BAA1-4927-BE63-327BB51718CC}">
      <dgm:prSet/>
      <dgm:spPr/>
      <dgm:t>
        <a:bodyPr/>
        <a:lstStyle/>
        <a:p>
          <a:endParaRPr lang="en-US"/>
        </a:p>
      </dgm:t>
    </dgm:pt>
    <dgm:pt modelId="{DFEC5270-3DD2-4168-9BD2-2516405ACFA7}" type="sibTrans" cxnId="{84F009F4-BAA1-4927-BE63-327BB51718CC}">
      <dgm:prSet/>
      <dgm:spPr/>
      <dgm:t>
        <a:bodyPr/>
        <a:lstStyle/>
        <a:p>
          <a:endParaRPr lang="en-US"/>
        </a:p>
      </dgm:t>
    </dgm:pt>
    <dgm:pt modelId="{1DC8C3CB-1971-FA43-990A-DC0F871014DF}" type="pres">
      <dgm:prSet presAssocID="{1714BFC1-797C-492F-9A52-9D4C53C195DA}" presName="linear" presStyleCnt="0">
        <dgm:presLayoutVars>
          <dgm:animLvl val="lvl"/>
          <dgm:resizeHandles val="exact"/>
        </dgm:presLayoutVars>
      </dgm:prSet>
      <dgm:spPr/>
    </dgm:pt>
    <dgm:pt modelId="{9F584C90-3341-DD45-B92E-DDBE153493BE}" type="pres">
      <dgm:prSet presAssocID="{6608E419-E977-44EB-8E5B-71F345B71AB6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9E37EC44-8865-4746-A326-2435799911FA}" type="pres">
      <dgm:prSet presAssocID="{3083DB7A-2BF2-449B-874B-C55781F9833D}" presName="spacer" presStyleCnt="0"/>
      <dgm:spPr/>
    </dgm:pt>
    <dgm:pt modelId="{25F84E82-7AD1-2C4D-B12D-E7E29433758E}" type="pres">
      <dgm:prSet presAssocID="{7342E2D0-46BA-458E-B524-0D1D5952DD73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AC7243CD-177D-9544-82E9-FB9F8D4DC4A1}" type="pres">
      <dgm:prSet presAssocID="{473F2341-3A93-4EFE-9334-5979D90236BC}" presName="spacer" presStyleCnt="0"/>
      <dgm:spPr/>
    </dgm:pt>
    <dgm:pt modelId="{D28A3D68-133D-F146-AA8A-299DE0B8B4B7}" type="pres">
      <dgm:prSet presAssocID="{EA1EBF4D-B21B-45A2-A1EB-AD0450EF686F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A31DD6BC-D26D-474D-B946-60E1171F6381}" type="pres">
      <dgm:prSet presAssocID="{CB1B0587-5BB3-4E2F-ABC0-8831F45FAA47}" presName="spacer" presStyleCnt="0"/>
      <dgm:spPr/>
    </dgm:pt>
    <dgm:pt modelId="{A297CD41-B535-AA46-8E4E-BC284BAAA4A6}" type="pres">
      <dgm:prSet presAssocID="{250D1B80-ECEC-4776-AD99-255E0411E562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54557132-E735-CD49-B664-4973420DBDD5}" type="pres">
      <dgm:prSet presAssocID="{057BAF43-7359-4C92-8632-5ED6801C674E}" presName="spacer" presStyleCnt="0"/>
      <dgm:spPr/>
    </dgm:pt>
    <dgm:pt modelId="{BE598701-415A-664A-9A47-3132CBF04FAE}" type="pres">
      <dgm:prSet presAssocID="{1F293F73-7460-4A22-90B8-94EF4C903210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292160BB-EE05-8C40-89CF-732C272339B7}" type="pres">
      <dgm:prSet presAssocID="{3A725836-94E2-4B78-B16F-89557DF9D319}" presName="spacer" presStyleCnt="0"/>
      <dgm:spPr/>
    </dgm:pt>
    <dgm:pt modelId="{A3264D7C-D707-C84A-9A20-0DA43731C9F2}" type="pres">
      <dgm:prSet presAssocID="{C8F83616-1B84-4C66-B42F-5C9BDD25DA94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C46170CD-95AA-6849-B1E8-D4320116FAA2}" type="pres">
      <dgm:prSet presAssocID="{255673C5-8540-461F-AC8F-554688C3B744}" presName="spacer" presStyleCnt="0"/>
      <dgm:spPr/>
    </dgm:pt>
    <dgm:pt modelId="{AFE2C205-FF65-EC45-B442-5CC24D7A8B80}" type="pres">
      <dgm:prSet presAssocID="{ADA6C011-06D8-4D3D-9C5A-847C7550DD7B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9BC3BE01-17DB-6F4F-B290-802DF36694DB}" type="presOf" srcId="{C8F83616-1B84-4C66-B42F-5C9BDD25DA94}" destId="{A3264D7C-D707-C84A-9A20-0DA43731C9F2}" srcOrd="0" destOrd="0" presId="urn:microsoft.com/office/officeart/2005/8/layout/vList2"/>
    <dgm:cxn modelId="{D7A9532D-6DDE-4C59-851F-5B2F8B94FE34}" srcId="{1714BFC1-797C-492F-9A52-9D4C53C195DA}" destId="{EA1EBF4D-B21B-45A2-A1EB-AD0450EF686F}" srcOrd="2" destOrd="0" parTransId="{5C2F4A6C-FBBA-482B-8CCE-F0C3E028973B}" sibTransId="{CB1B0587-5BB3-4E2F-ABC0-8831F45FAA47}"/>
    <dgm:cxn modelId="{6560C23B-1FD0-BE44-A0BF-A879F69B5F28}" type="presOf" srcId="{7342E2D0-46BA-458E-B524-0D1D5952DD73}" destId="{25F84E82-7AD1-2C4D-B12D-E7E29433758E}" srcOrd="0" destOrd="0" presId="urn:microsoft.com/office/officeart/2005/8/layout/vList2"/>
    <dgm:cxn modelId="{78FF233E-E5BE-4A51-8827-9BDA2BBBF986}" srcId="{1714BFC1-797C-492F-9A52-9D4C53C195DA}" destId="{7342E2D0-46BA-458E-B524-0D1D5952DD73}" srcOrd="1" destOrd="0" parTransId="{187A4464-9DD0-46F9-9CF8-A0F1587595A6}" sibTransId="{473F2341-3A93-4EFE-9334-5979D90236BC}"/>
    <dgm:cxn modelId="{149B3864-C6A7-41FB-A4CA-200B4D49C8CA}" srcId="{1714BFC1-797C-492F-9A52-9D4C53C195DA}" destId="{1F293F73-7460-4A22-90B8-94EF4C903210}" srcOrd="4" destOrd="0" parTransId="{8F3E4E6E-AEC9-4DDD-AE35-06DD49A03B8A}" sibTransId="{3A725836-94E2-4B78-B16F-89557DF9D319}"/>
    <dgm:cxn modelId="{13965B68-D254-1E47-9912-BA8E348EEF1F}" type="presOf" srcId="{ADA6C011-06D8-4D3D-9C5A-847C7550DD7B}" destId="{AFE2C205-FF65-EC45-B442-5CC24D7A8B80}" srcOrd="0" destOrd="0" presId="urn:microsoft.com/office/officeart/2005/8/layout/vList2"/>
    <dgm:cxn modelId="{C21B068D-324D-444F-803B-70478D9C3BBE}" srcId="{1714BFC1-797C-492F-9A52-9D4C53C195DA}" destId="{6608E419-E977-44EB-8E5B-71F345B71AB6}" srcOrd="0" destOrd="0" parTransId="{3F403924-4E40-4223-BC6F-F0AA9B854A72}" sibTransId="{3083DB7A-2BF2-449B-874B-C55781F9833D}"/>
    <dgm:cxn modelId="{1122D09A-5217-4EF0-A4AA-0C2E920EDEC9}" srcId="{1714BFC1-797C-492F-9A52-9D4C53C195DA}" destId="{C8F83616-1B84-4C66-B42F-5C9BDD25DA94}" srcOrd="5" destOrd="0" parTransId="{F7734E36-80EE-4AE7-A8AC-42508AF0633C}" sibTransId="{255673C5-8540-461F-AC8F-554688C3B744}"/>
    <dgm:cxn modelId="{ADAC45B2-1F1D-D747-B247-ED983201B9C1}" type="presOf" srcId="{1714BFC1-797C-492F-9A52-9D4C53C195DA}" destId="{1DC8C3CB-1971-FA43-990A-DC0F871014DF}" srcOrd="0" destOrd="0" presId="urn:microsoft.com/office/officeart/2005/8/layout/vList2"/>
    <dgm:cxn modelId="{AFB593B8-BA46-7C4C-ACEE-1191196DE46F}" type="presOf" srcId="{6608E419-E977-44EB-8E5B-71F345B71AB6}" destId="{9F584C90-3341-DD45-B92E-DDBE153493BE}" srcOrd="0" destOrd="0" presId="urn:microsoft.com/office/officeart/2005/8/layout/vList2"/>
    <dgm:cxn modelId="{83ADDBCB-A769-D84E-83BF-3A94EB4A6FC4}" type="presOf" srcId="{EA1EBF4D-B21B-45A2-A1EB-AD0450EF686F}" destId="{D28A3D68-133D-F146-AA8A-299DE0B8B4B7}" srcOrd="0" destOrd="0" presId="urn:microsoft.com/office/officeart/2005/8/layout/vList2"/>
    <dgm:cxn modelId="{91D922CC-F750-1141-B431-C2AC6FC2B3A5}" type="presOf" srcId="{1F293F73-7460-4A22-90B8-94EF4C903210}" destId="{BE598701-415A-664A-9A47-3132CBF04FAE}" srcOrd="0" destOrd="0" presId="urn:microsoft.com/office/officeart/2005/8/layout/vList2"/>
    <dgm:cxn modelId="{4C3A54D9-0C8E-444A-8F8F-8D6805FC7B6F}" type="presOf" srcId="{250D1B80-ECEC-4776-AD99-255E0411E562}" destId="{A297CD41-B535-AA46-8E4E-BC284BAAA4A6}" srcOrd="0" destOrd="0" presId="urn:microsoft.com/office/officeart/2005/8/layout/vList2"/>
    <dgm:cxn modelId="{84F009F4-BAA1-4927-BE63-327BB51718CC}" srcId="{1714BFC1-797C-492F-9A52-9D4C53C195DA}" destId="{ADA6C011-06D8-4D3D-9C5A-847C7550DD7B}" srcOrd="6" destOrd="0" parTransId="{D78CF1CA-B628-4B38-BA1B-FC0BEA422F90}" sibTransId="{DFEC5270-3DD2-4168-9BD2-2516405ACFA7}"/>
    <dgm:cxn modelId="{9BB4A7FC-1153-44AC-8300-93F142B05DBC}" srcId="{1714BFC1-797C-492F-9A52-9D4C53C195DA}" destId="{250D1B80-ECEC-4776-AD99-255E0411E562}" srcOrd="3" destOrd="0" parTransId="{7895C466-44AF-4BCE-B07D-CE29B8CFA682}" sibTransId="{057BAF43-7359-4C92-8632-5ED6801C674E}"/>
    <dgm:cxn modelId="{E31BD994-C8DA-304E-BD1B-956ED8D37EC0}" type="presParOf" srcId="{1DC8C3CB-1971-FA43-990A-DC0F871014DF}" destId="{9F584C90-3341-DD45-B92E-DDBE153493BE}" srcOrd="0" destOrd="0" presId="urn:microsoft.com/office/officeart/2005/8/layout/vList2"/>
    <dgm:cxn modelId="{9F5B7DE2-CE7F-2D4D-B371-A4F05ADA3D4F}" type="presParOf" srcId="{1DC8C3CB-1971-FA43-990A-DC0F871014DF}" destId="{9E37EC44-8865-4746-A326-2435799911FA}" srcOrd="1" destOrd="0" presId="urn:microsoft.com/office/officeart/2005/8/layout/vList2"/>
    <dgm:cxn modelId="{ED1983F7-49B6-F443-A888-89F9580F30AB}" type="presParOf" srcId="{1DC8C3CB-1971-FA43-990A-DC0F871014DF}" destId="{25F84E82-7AD1-2C4D-B12D-E7E29433758E}" srcOrd="2" destOrd="0" presId="urn:microsoft.com/office/officeart/2005/8/layout/vList2"/>
    <dgm:cxn modelId="{FD364E30-85F5-4145-81BF-DC6724F1E7E4}" type="presParOf" srcId="{1DC8C3CB-1971-FA43-990A-DC0F871014DF}" destId="{AC7243CD-177D-9544-82E9-FB9F8D4DC4A1}" srcOrd="3" destOrd="0" presId="urn:microsoft.com/office/officeart/2005/8/layout/vList2"/>
    <dgm:cxn modelId="{A8595DD1-26F2-B248-8088-7067C1951858}" type="presParOf" srcId="{1DC8C3CB-1971-FA43-990A-DC0F871014DF}" destId="{D28A3D68-133D-F146-AA8A-299DE0B8B4B7}" srcOrd="4" destOrd="0" presId="urn:microsoft.com/office/officeart/2005/8/layout/vList2"/>
    <dgm:cxn modelId="{ED83CFE7-AA6A-194E-B9E1-84CB7FD47C8E}" type="presParOf" srcId="{1DC8C3CB-1971-FA43-990A-DC0F871014DF}" destId="{A31DD6BC-D26D-474D-B946-60E1171F6381}" srcOrd="5" destOrd="0" presId="urn:microsoft.com/office/officeart/2005/8/layout/vList2"/>
    <dgm:cxn modelId="{A12E60E5-ECC3-8748-A060-8D593690C735}" type="presParOf" srcId="{1DC8C3CB-1971-FA43-990A-DC0F871014DF}" destId="{A297CD41-B535-AA46-8E4E-BC284BAAA4A6}" srcOrd="6" destOrd="0" presId="urn:microsoft.com/office/officeart/2005/8/layout/vList2"/>
    <dgm:cxn modelId="{04E731BE-3E41-924B-9F62-195B6847036E}" type="presParOf" srcId="{1DC8C3CB-1971-FA43-990A-DC0F871014DF}" destId="{54557132-E735-CD49-B664-4973420DBDD5}" srcOrd="7" destOrd="0" presId="urn:microsoft.com/office/officeart/2005/8/layout/vList2"/>
    <dgm:cxn modelId="{B0EF7EC4-C04C-E643-A388-40CCF6E1A32B}" type="presParOf" srcId="{1DC8C3CB-1971-FA43-990A-DC0F871014DF}" destId="{BE598701-415A-664A-9A47-3132CBF04FAE}" srcOrd="8" destOrd="0" presId="urn:microsoft.com/office/officeart/2005/8/layout/vList2"/>
    <dgm:cxn modelId="{A9C640C4-BB52-5944-B5DE-A26FD5F1EE74}" type="presParOf" srcId="{1DC8C3CB-1971-FA43-990A-DC0F871014DF}" destId="{292160BB-EE05-8C40-89CF-732C272339B7}" srcOrd="9" destOrd="0" presId="urn:microsoft.com/office/officeart/2005/8/layout/vList2"/>
    <dgm:cxn modelId="{672C10D3-147F-2149-A205-CB055913E998}" type="presParOf" srcId="{1DC8C3CB-1971-FA43-990A-DC0F871014DF}" destId="{A3264D7C-D707-C84A-9A20-0DA43731C9F2}" srcOrd="10" destOrd="0" presId="urn:microsoft.com/office/officeart/2005/8/layout/vList2"/>
    <dgm:cxn modelId="{2AF3452F-C030-A541-9004-1648DE609CA0}" type="presParOf" srcId="{1DC8C3CB-1971-FA43-990A-DC0F871014DF}" destId="{C46170CD-95AA-6849-B1E8-D4320116FAA2}" srcOrd="11" destOrd="0" presId="urn:microsoft.com/office/officeart/2005/8/layout/vList2"/>
    <dgm:cxn modelId="{79059AE4-DF02-B643-9A9B-9CEB1D60C3AD}" type="presParOf" srcId="{1DC8C3CB-1971-FA43-990A-DC0F871014DF}" destId="{AFE2C205-FF65-EC45-B442-5CC24D7A8B80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F553715-F422-43CB-8480-7D50A8EBCE33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FEE5063-2760-4D2F-A7AB-8DA352E28A93}">
      <dgm:prSet/>
      <dgm:spPr/>
      <dgm:t>
        <a:bodyPr/>
        <a:lstStyle/>
        <a:p>
          <a:r>
            <a:rPr lang="en-US"/>
            <a:t>1. Align workforce planning with birth trends</a:t>
          </a:r>
        </a:p>
      </dgm:t>
    </dgm:pt>
    <dgm:pt modelId="{E07A5DE1-558F-4BEA-BA8D-F738081C0256}" type="parTrans" cxnId="{FFEBC4D1-CCCB-45FE-8178-31443C5A256F}">
      <dgm:prSet/>
      <dgm:spPr/>
      <dgm:t>
        <a:bodyPr/>
        <a:lstStyle/>
        <a:p>
          <a:endParaRPr lang="en-US"/>
        </a:p>
      </dgm:t>
    </dgm:pt>
    <dgm:pt modelId="{BEA7EAD5-3D28-4D50-9B5A-C00A292F7AE3}" type="sibTrans" cxnId="{FFEBC4D1-CCCB-45FE-8178-31443C5A256F}">
      <dgm:prSet/>
      <dgm:spPr/>
      <dgm:t>
        <a:bodyPr/>
        <a:lstStyle/>
        <a:p>
          <a:endParaRPr lang="en-US"/>
        </a:p>
      </dgm:t>
    </dgm:pt>
    <dgm:pt modelId="{1B2F7E99-A2DA-4BD3-AD3C-1A94C94C68BA}">
      <dgm:prSet/>
      <dgm:spPr/>
      <dgm:t>
        <a:bodyPr/>
        <a:lstStyle/>
        <a:p>
          <a:r>
            <a:rPr lang="en-US"/>
            <a:t>2. Strategic immigration planning</a:t>
          </a:r>
        </a:p>
      </dgm:t>
    </dgm:pt>
    <dgm:pt modelId="{72B1C30A-B6D1-4694-BBD9-117E37CB1AAA}" type="parTrans" cxnId="{702E09BD-C0B7-4429-BE93-272A66E5C791}">
      <dgm:prSet/>
      <dgm:spPr/>
      <dgm:t>
        <a:bodyPr/>
        <a:lstStyle/>
        <a:p>
          <a:endParaRPr lang="en-US"/>
        </a:p>
      </dgm:t>
    </dgm:pt>
    <dgm:pt modelId="{5F9B29AE-655C-4AA6-A7CA-81534F046C38}" type="sibTrans" cxnId="{702E09BD-C0B7-4429-BE93-272A66E5C791}">
      <dgm:prSet/>
      <dgm:spPr/>
      <dgm:t>
        <a:bodyPr/>
        <a:lstStyle/>
        <a:p>
          <a:endParaRPr lang="en-US"/>
        </a:p>
      </dgm:t>
    </dgm:pt>
    <dgm:pt modelId="{CB6BA2AD-58DD-40A6-9A93-E53F93F7C9D5}">
      <dgm:prSet/>
      <dgm:spPr/>
      <dgm:t>
        <a:bodyPr/>
        <a:lstStyle/>
        <a:p>
          <a:r>
            <a:rPr lang="en-US"/>
            <a:t>3. Monitor HDB affordability</a:t>
          </a:r>
        </a:p>
      </dgm:t>
    </dgm:pt>
    <dgm:pt modelId="{8B15519F-0F8B-4FF1-8518-F581CE217D32}" type="parTrans" cxnId="{DA525EB3-2FC2-4F36-B6C1-FB78D720A980}">
      <dgm:prSet/>
      <dgm:spPr/>
      <dgm:t>
        <a:bodyPr/>
        <a:lstStyle/>
        <a:p>
          <a:endParaRPr lang="en-US"/>
        </a:p>
      </dgm:t>
    </dgm:pt>
    <dgm:pt modelId="{F0514AE1-30B9-441E-838C-79A3EA77D2BB}" type="sibTrans" cxnId="{DA525EB3-2FC2-4F36-B6C1-FB78D720A980}">
      <dgm:prSet/>
      <dgm:spPr/>
      <dgm:t>
        <a:bodyPr/>
        <a:lstStyle/>
        <a:p>
          <a:endParaRPr lang="en-US"/>
        </a:p>
      </dgm:t>
    </dgm:pt>
    <dgm:pt modelId="{13B3E7F6-8527-4314-8877-583A1A2A5EB8}">
      <dgm:prSet/>
      <dgm:spPr/>
      <dgm:t>
        <a:bodyPr/>
        <a:lstStyle/>
        <a:p>
          <a:r>
            <a:rPr lang="en-US"/>
            <a:t>Conclusion: These trends shape Singapore’s future.</a:t>
          </a:r>
        </a:p>
      </dgm:t>
    </dgm:pt>
    <dgm:pt modelId="{2108C4DB-F38C-4279-A32C-7827D6022735}" type="parTrans" cxnId="{47DF38EC-F058-4FAD-B7A2-A1ED540A5E0E}">
      <dgm:prSet/>
      <dgm:spPr/>
      <dgm:t>
        <a:bodyPr/>
        <a:lstStyle/>
        <a:p>
          <a:endParaRPr lang="en-US"/>
        </a:p>
      </dgm:t>
    </dgm:pt>
    <dgm:pt modelId="{033AEB14-5D28-4947-B0E2-6348A0DAB981}" type="sibTrans" cxnId="{47DF38EC-F058-4FAD-B7A2-A1ED540A5E0E}">
      <dgm:prSet/>
      <dgm:spPr/>
      <dgm:t>
        <a:bodyPr/>
        <a:lstStyle/>
        <a:p>
          <a:endParaRPr lang="en-US"/>
        </a:p>
      </dgm:t>
    </dgm:pt>
    <dgm:pt modelId="{F2F78056-E739-D749-93E1-D54FA47F4351}" type="pres">
      <dgm:prSet presAssocID="{DF553715-F422-43CB-8480-7D50A8EBCE33}" presName="vert0" presStyleCnt="0">
        <dgm:presLayoutVars>
          <dgm:dir/>
          <dgm:animOne val="branch"/>
          <dgm:animLvl val="lvl"/>
        </dgm:presLayoutVars>
      </dgm:prSet>
      <dgm:spPr/>
    </dgm:pt>
    <dgm:pt modelId="{8530D2B6-E087-C94E-A157-711297E42BFF}" type="pres">
      <dgm:prSet presAssocID="{9FEE5063-2760-4D2F-A7AB-8DA352E28A93}" presName="thickLine" presStyleLbl="alignNode1" presStyleIdx="0" presStyleCnt="4"/>
      <dgm:spPr/>
    </dgm:pt>
    <dgm:pt modelId="{22B36BF1-B646-034F-ADBB-BE4B98A9C9C9}" type="pres">
      <dgm:prSet presAssocID="{9FEE5063-2760-4D2F-A7AB-8DA352E28A93}" presName="horz1" presStyleCnt="0"/>
      <dgm:spPr/>
    </dgm:pt>
    <dgm:pt modelId="{5BCA9746-4614-C244-921B-71DC8756F948}" type="pres">
      <dgm:prSet presAssocID="{9FEE5063-2760-4D2F-A7AB-8DA352E28A93}" presName="tx1" presStyleLbl="revTx" presStyleIdx="0" presStyleCnt="4"/>
      <dgm:spPr/>
    </dgm:pt>
    <dgm:pt modelId="{BAD7B7C8-DE93-DB4F-8EAC-27F2F8EBED8F}" type="pres">
      <dgm:prSet presAssocID="{9FEE5063-2760-4D2F-A7AB-8DA352E28A93}" presName="vert1" presStyleCnt="0"/>
      <dgm:spPr/>
    </dgm:pt>
    <dgm:pt modelId="{E25A14FF-1C9E-B748-9B6B-3C315A1D7F7C}" type="pres">
      <dgm:prSet presAssocID="{1B2F7E99-A2DA-4BD3-AD3C-1A94C94C68BA}" presName="thickLine" presStyleLbl="alignNode1" presStyleIdx="1" presStyleCnt="4"/>
      <dgm:spPr/>
    </dgm:pt>
    <dgm:pt modelId="{B691F9F7-BE75-564F-B2A1-41661FF41B9A}" type="pres">
      <dgm:prSet presAssocID="{1B2F7E99-A2DA-4BD3-AD3C-1A94C94C68BA}" presName="horz1" presStyleCnt="0"/>
      <dgm:spPr/>
    </dgm:pt>
    <dgm:pt modelId="{3A6106DC-8196-9A48-BD43-2276867490D5}" type="pres">
      <dgm:prSet presAssocID="{1B2F7E99-A2DA-4BD3-AD3C-1A94C94C68BA}" presName="tx1" presStyleLbl="revTx" presStyleIdx="1" presStyleCnt="4"/>
      <dgm:spPr/>
    </dgm:pt>
    <dgm:pt modelId="{70F6ECFA-335D-F745-B065-81F2F46F4048}" type="pres">
      <dgm:prSet presAssocID="{1B2F7E99-A2DA-4BD3-AD3C-1A94C94C68BA}" presName="vert1" presStyleCnt="0"/>
      <dgm:spPr/>
    </dgm:pt>
    <dgm:pt modelId="{4FE2E07F-833D-1940-9A40-2262798F6773}" type="pres">
      <dgm:prSet presAssocID="{CB6BA2AD-58DD-40A6-9A93-E53F93F7C9D5}" presName="thickLine" presStyleLbl="alignNode1" presStyleIdx="2" presStyleCnt="4"/>
      <dgm:spPr/>
    </dgm:pt>
    <dgm:pt modelId="{18F0059A-A94E-D248-BD4A-4EF2765EC2E0}" type="pres">
      <dgm:prSet presAssocID="{CB6BA2AD-58DD-40A6-9A93-E53F93F7C9D5}" presName="horz1" presStyleCnt="0"/>
      <dgm:spPr/>
    </dgm:pt>
    <dgm:pt modelId="{3C132575-593F-4449-A85C-AF4795A18B2F}" type="pres">
      <dgm:prSet presAssocID="{CB6BA2AD-58DD-40A6-9A93-E53F93F7C9D5}" presName="tx1" presStyleLbl="revTx" presStyleIdx="2" presStyleCnt="4"/>
      <dgm:spPr/>
    </dgm:pt>
    <dgm:pt modelId="{92E6B2BC-89AB-E34F-A8F0-37A1F6A43EE7}" type="pres">
      <dgm:prSet presAssocID="{CB6BA2AD-58DD-40A6-9A93-E53F93F7C9D5}" presName="vert1" presStyleCnt="0"/>
      <dgm:spPr/>
    </dgm:pt>
    <dgm:pt modelId="{4C86957C-D963-7141-803A-7E83C47E2B81}" type="pres">
      <dgm:prSet presAssocID="{13B3E7F6-8527-4314-8877-583A1A2A5EB8}" presName="thickLine" presStyleLbl="alignNode1" presStyleIdx="3" presStyleCnt="4"/>
      <dgm:spPr/>
    </dgm:pt>
    <dgm:pt modelId="{44385AAD-C2B9-6D48-8216-57CE43D3838E}" type="pres">
      <dgm:prSet presAssocID="{13B3E7F6-8527-4314-8877-583A1A2A5EB8}" presName="horz1" presStyleCnt="0"/>
      <dgm:spPr/>
    </dgm:pt>
    <dgm:pt modelId="{4B5FA5FD-496E-4E42-87AD-474588488E74}" type="pres">
      <dgm:prSet presAssocID="{13B3E7F6-8527-4314-8877-583A1A2A5EB8}" presName="tx1" presStyleLbl="revTx" presStyleIdx="3" presStyleCnt="4"/>
      <dgm:spPr/>
    </dgm:pt>
    <dgm:pt modelId="{FEA35B4D-F9A3-E54B-8881-E55007ECD19B}" type="pres">
      <dgm:prSet presAssocID="{13B3E7F6-8527-4314-8877-583A1A2A5EB8}" presName="vert1" presStyleCnt="0"/>
      <dgm:spPr/>
    </dgm:pt>
  </dgm:ptLst>
  <dgm:cxnLst>
    <dgm:cxn modelId="{80592737-7CAE-7E40-BD4A-DD3E0D78094D}" type="presOf" srcId="{9FEE5063-2760-4D2F-A7AB-8DA352E28A93}" destId="{5BCA9746-4614-C244-921B-71DC8756F948}" srcOrd="0" destOrd="0" presId="urn:microsoft.com/office/officeart/2008/layout/LinedList"/>
    <dgm:cxn modelId="{54734348-0149-904D-8E70-52AD1AA222CD}" type="presOf" srcId="{1B2F7E99-A2DA-4BD3-AD3C-1A94C94C68BA}" destId="{3A6106DC-8196-9A48-BD43-2276867490D5}" srcOrd="0" destOrd="0" presId="urn:microsoft.com/office/officeart/2008/layout/LinedList"/>
    <dgm:cxn modelId="{D0CBB675-7F93-E042-A820-7C0941427767}" type="presOf" srcId="{DF553715-F422-43CB-8480-7D50A8EBCE33}" destId="{F2F78056-E739-D749-93E1-D54FA47F4351}" srcOrd="0" destOrd="0" presId="urn:microsoft.com/office/officeart/2008/layout/LinedList"/>
    <dgm:cxn modelId="{DA525EB3-2FC2-4F36-B6C1-FB78D720A980}" srcId="{DF553715-F422-43CB-8480-7D50A8EBCE33}" destId="{CB6BA2AD-58DD-40A6-9A93-E53F93F7C9D5}" srcOrd="2" destOrd="0" parTransId="{8B15519F-0F8B-4FF1-8518-F581CE217D32}" sibTransId="{F0514AE1-30B9-441E-838C-79A3EA77D2BB}"/>
    <dgm:cxn modelId="{48D0E7B5-CAE5-4D47-8B8D-8AA43D5FFE26}" type="presOf" srcId="{13B3E7F6-8527-4314-8877-583A1A2A5EB8}" destId="{4B5FA5FD-496E-4E42-87AD-474588488E74}" srcOrd="0" destOrd="0" presId="urn:microsoft.com/office/officeart/2008/layout/LinedList"/>
    <dgm:cxn modelId="{702E09BD-C0B7-4429-BE93-272A66E5C791}" srcId="{DF553715-F422-43CB-8480-7D50A8EBCE33}" destId="{1B2F7E99-A2DA-4BD3-AD3C-1A94C94C68BA}" srcOrd="1" destOrd="0" parTransId="{72B1C30A-B6D1-4694-BBD9-117E37CB1AAA}" sibTransId="{5F9B29AE-655C-4AA6-A7CA-81534F046C38}"/>
    <dgm:cxn modelId="{FFEBC4D1-CCCB-45FE-8178-31443C5A256F}" srcId="{DF553715-F422-43CB-8480-7D50A8EBCE33}" destId="{9FEE5063-2760-4D2F-A7AB-8DA352E28A93}" srcOrd="0" destOrd="0" parTransId="{E07A5DE1-558F-4BEA-BA8D-F738081C0256}" sibTransId="{BEA7EAD5-3D28-4D50-9B5A-C00A292F7AE3}"/>
    <dgm:cxn modelId="{A9EA0ED2-3CF8-BD4E-9933-DBCED7C9C0C6}" type="presOf" srcId="{CB6BA2AD-58DD-40A6-9A93-E53F93F7C9D5}" destId="{3C132575-593F-4449-A85C-AF4795A18B2F}" srcOrd="0" destOrd="0" presId="urn:microsoft.com/office/officeart/2008/layout/LinedList"/>
    <dgm:cxn modelId="{47DF38EC-F058-4FAD-B7A2-A1ED540A5E0E}" srcId="{DF553715-F422-43CB-8480-7D50A8EBCE33}" destId="{13B3E7F6-8527-4314-8877-583A1A2A5EB8}" srcOrd="3" destOrd="0" parTransId="{2108C4DB-F38C-4279-A32C-7827D6022735}" sibTransId="{033AEB14-5D28-4947-B0E2-6348A0DAB981}"/>
    <dgm:cxn modelId="{F8F81F21-EF97-6E41-B947-0131C92D27C6}" type="presParOf" srcId="{F2F78056-E739-D749-93E1-D54FA47F4351}" destId="{8530D2B6-E087-C94E-A157-711297E42BFF}" srcOrd="0" destOrd="0" presId="urn:microsoft.com/office/officeart/2008/layout/LinedList"/>
    <dgm:cxn modelId="{8BA4A9F2-C6E2-004A-827A-866D311132C8}" type="presParOf" srcId="{F2F78056-E739-D749-93E1-D54FA47F4351}" destId="{22B36BF1-B646-034F-ADBB-BE4B98A9C9C9}" srcOrd="1" destOrd="0" presId="urn:microsoft.com/office/officeart/2008/layout/LinedList"/>
    <dgm:cxn modelId="{0065B1DD-0FC3-C648-B340-10172A8842B2}" type="presParOf" srcId="{22B36BF1-B646-034F-ADBB-BE4B98A9C9C9}" destId="{5BCA9746-4614-C244-921B-71DC8756F948}" srcOrd="0" destOrd="0" presId="urn:microsoft.com/office/officeart/2008/layout/LinedList"/>
    <dgm:cxn modelId="{18771CF3-4E2D-F24B-96D3-07B0B6F9FA8D}" type="presParOf" srcId="{22B36BF1-B646-034F-ADBB-BE4B98A9C9C9}" destId="{BAD7B7C8-DE93-DB4F-8EAC-27F2F8EBED8F}" srcOrd="1" destOrd="0" presId="urn:microsoft.com/office/officeart/2008/layout/LinedList"/>
    <dgm:cxn modelId="{74AE31DA-EF0A-DA45-B92C-3BDCC2B1EA67}" type="presParOf" srcId="{F2F78056-E739-D749-93E1-D54FA47F4351}" destId="{E25A14FF-1C9E-B748-9B6B-3C315A1D7F7C}" srcOrd="2" destOrd="0" presId="urn:microsoft.com/office/officeart/2008/layout/LinedList"/>
    <dgm:cxn modelId="{41137FA7-41E8-6349-A594-BDED78E40F27}" type="presParOf" srcId="{F2F78056-E739-D749-93E1-D54FA47F4351}" destId="{B691F9F7-BE75-564F-B2A1-41661FF41B9A}" srcOrd="3" destOrd="0" presId="urn:microsoft.com/office/officeart/2008/layout/LinedList"/>
    <dgm:cxn modelId="{06CC69A4-602D-C149-AB8B-61204044DF71}" type="presParOf" srcId="{B691F9F7-BE75-564F-B2A1-41661FF41B9A}" destId="{3A6106DC-8196-9A48-BD43-2276867490D5}" srcOrd="0" destOrd="0" presId="urn:microsoft.com/office/officeart/2008/layout/LinedList"/>
    <dgm:cxn modelId="{3E174998-D7EE-0D48-A384-C902FED78694}" type="presParOf" srcId="{B691F9F7-BE75-564F-B2A1-41661FF41B9A}" destId="{70F6ECFA-335D-F745-B065-81F2F46F4048}" srcOrd="1" destOrd="0" presId="urn:microsoft.com/office/officeart/2008/layout/LinedList"/>
    <dgm:cxn modelId="{1828D15F-36FA-844D-BA78-947C12C9C46F}" type="presParOf" srcId="{F2F78056-E739-D749-93E1-D54FA47F4351}" destId="{4FE2E07F-833D-1940-9A40-2262798F6773}" srcOrd="4" destOrd="0" presId="urn:microsoft.com/office/officeart/2008/layout/LinedList"/>
    <dgm:cxn modelId="{94BDC9F3-2D44-5648-A6C7-196F642504D9}" type="presParOf" srcId="{F2F78056-E739-D749-93E1-D54FA47F4351}" destId="{18F0059A-A94E-D248-BD4A-4EF2765EC2E0}" srcOrd="5" destOrd="0" presId="urn:microsoft.com/office/officeart/2008/layout/LinedList"/>
    <dgm:cxn modelId="{9BC1C7E1-3F59-B74D-862B-A339F3B1FBA2}" type="presParOf" srcId="{18F0059A-A94E-D248-BD4A-4EF2765EC2E0}" destId="{3C132575-593F-4449-A85C-AF4795A18B2F}" srcOrd="0" destOrd="0" presId="urn:microsoft.com/office/officeart/2008/layout/LinedList"/>
    <dgm:cxn modelId="{59E2672C-1FDB-F245-BCBF-4593AC6A8D7D}" type="presParOf" srcId="{18F0059A-A94E-D248-BD4A-4EF2765EC2E0}" destId="{92E6B2BC-89AB-E34F-A8F0-37A1F6A43EE7}" srcOrd="1" destOrd="0" presId="urn:microsoft.com/office/officeart/2008/layout/LinedList"/>
    <dgm:cxn modelId="{E7286980-36AD-A54F-9D83-4B747257CC64}" type="presParOf" srcId="{F2F78056-E739-D749-93E1-D54FA47F4351}" destId="{4C86957C-D963-7141-803A-7E83C47E2B81}" srcOrd="6" destOrd="0" presId="urn:microsoft.com/office/officeart/2008/layout/LinedList"/>
    <dgm:cxn modelId="{16C43349-8057-B648-8AC0-00437FB22E37}" type="presParOf" srcId="{F2F78056-E739-D749-93E1-D54FA47F4351}" destId="{44385AAD-C2B9-6D48-8216-57CE43D3838E}" srcOrd="7" destOrd="0" presId="urn:microsoft.com/office/officeart/2008/layout/LinedList"/>
    <dgm:cxn modelId="{25916AD3-64E3-A943-A09B-8E4EC43B9496}" type="presParOf" srcId="{44385AAD-C2B9-6D48-8216-57CE43D3838E}" destId="{4B5FA5FD-496E-4E42-87AD-474588488E74}" srcOrd="0" destOrd="0" presId="urn:microsoft.com/office/officeart/2008/layout/LinedList"/>
    <dgm:cxn modelId="{43EF41B3-D0B5-9643-BB4D-01B76CF3E736}" type="presParOf" srcId="{44385AAD-C2B9-6D48-8216-57CE43D3838E}" destId="{FEA35B4D-F9A3-E54B-8881-E55007ECD19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202778-B732-C248-9F0B-D3CAC5CC7AC0}">
      <dsp:nvSpPr>
        <dsp:cNvPr id="0" name=""/>
        <dsp:cNvSpPr/>
      </dsp:nvSpPr>
      <dsp:spPr>
        <a:xfrm>
          <a:off x="0" y="2870"/>
          <a:ext cx="472620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B67F61-4B89-B943-8219-35AB6BA093AB}">
      <dsp:nvSpPr>
        <dsp:cNvPr id="0" name=""/>
        <dsp:cNvSpPr/>
      </dsp:nvSpPr>
      <dsp:spPr>
        <a:xfrm>
          <a:off x="0" y="2870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How Birth Rates, Immigration, and Housing Trends Shape Singapore’s Future</a:t>
          </a:r>
        </a:p>
      </dsp:txBody>
      <dsp:txXfrm>
        <a:off x="0" y="2870"/>
        <a:ext cx="4726201" cy="1957689"/>
      </dsp:txXfrm>
    </dsp:sp>
    <dsp:sp modelId="{DB45C115-7322-034D-AE1F-923E48AA924B}">
      <dsp:nvSpPr>
        <dsp:cNvPr id="0" name=""/>
        <dsp:cNvSpPr/>
      </dsp:nvSpPr>
      <dsp:spPr>
        <a:xfrm>
          <a:off x="0" y="1960559"/>
          <a:ext cx="4726201" cy="0"/>
        </a:xfrm>
        <a:prstGeom prst="line">
          <a:avLst/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60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1C90BA-FFFA-A943-8565-82B4A63D2883}">
      <dsp:nvSpPr>
        <dsp:cNvPr id="0" name=""/>
        <dsp:cNvSpPr/>
      </dsp:nvSpPr>
      <dsp:spPr>
        <a:xfrm>
          <a:off x="0" y="1960559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Data Analytics Capstone Presentation..</a:t>
          </a:r>
        </a:p>
      </dsp:txBody>
      <dsp:txXfrm>
        <a:off x="0" y="1960559"/>
        <a:ext cx="4726201" cy="1957689"/>
      </dsp:txXfrm>
    </dsp:sp>
    <dsp:sp modelId="{E8E29A08-B184-9042-8575-84BFA90A40B4}">
      <dsp:nvSpPr>
        <dsp:cNvPr id="0" name=""/>
        <dsp:cNvSpPr/>
      </dsp:nvSpPr>
      <dsp:spPr>
        <a:xfrm>
          <a:off x="0" y="3918249"/>
          <a:ext cx="4726201" cy="0"/>
        </a:xfrm>
        <a:prstGeom prst="line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20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E30520-ADC4-9345-A202-DE53C5A7CCFB}">
      <dsp:nvSpPr>
        <dsp:cNvPr id="0" name=""/>
        <dsp:cNvSpPr/>
      </dsp:nvSpPr>
      <dsp:spPr>
        <a:xfrm>
          <a:off x="0" y="3918249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by Lester Fok</a:t>
          </a:r>
        </a:p>
      </dsp:txBody>
      <dsp:txXfrm>
        <a:off x="0" y="3918249"/>
        <a:ext cx="4726201" cy="19576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7E48FD-39BB-174E-9ECA-7FDFADB805FF}">
      <dsp:nvSpPr>
        <dsp:cNvPr id="0" name=""/>
        <dsp:cNvSpPr/>
      </dsp:nvSpPr>
      <dsp:spPr>
        <a:xfrm>
          <a:off x="0" y="4472"/>
          <a:ext cx="8195871" cy="6715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Singapore faces three challenges:</a:t>
          </a:r>
        </a:p>
      </dsp:txBody>
      <dsp:txXfrm>
        <a:off x="32784" y="37256"/>
        <a:ext cx="8130303" cy="606012"/>
      </dsp:txXfrm>
    </dsp:sp>
    <dsp:sp modelId="{5B06A58F-6BC0-2C43-BF2D-CF31909D4760}">
      <dsp:nvSpPr>
        <dsp:cNvPr id="0" name=""/>
        <dsp:cNvSpPr/>
      </dsp:nvSpPr>
      <dsp:spPr>
        <a:xfrm>
          <a:off x="0" y="756692"/>
          <a:ext cx="8195871" cy="671580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- Birth rates at all-time low</a:t>
          </a:r>
        </a:p>
      </dsp:txBody>
      <dsp:txXfrm>
        <a:off x="32784" y="789476"/>
        <a:ext cx="8130303" cy="606012"/>
      </dsp:txXfrm>
    </dsp:sp>
    <dsp:sp modelId="{BF2E5B51-E1D8-2B47-9FEF-F52CFD27BE40}">
      <dsp:nvSpPr>
        <dsp:cNvPr id="0" name=""/>
        <dsp:cNvSpPr/>
      </dsp:nvSpPr>
      <dsp:spPr>
        <a:xfrm>
          <a:off x="0" y="1508912"/>
          <a:ext cx="8195871" cy="671580"/>
        </a:xfrm>
        <a:prstGeom prst="roundRect">
          <a:avLst/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- Rising immigration to balance decline</a:t>
          </a:r>
        </a:p>
      </dsp:txBody>
      <dsp:txXfrm>
        <a:off x="32784" y="1541696"/>
        <a:ext cx="8130303" cy="606012"/>
      </dsp:txXfrm>
    </dsp:sp>
    <dsp:sp modelId="{B26D187C-4772-244F-BB73-3B705D7633F6}">
      <dsp:nvSpPr>
        <dsp:cNvPr id="0" name=""/>
        <dsp:cNvSpPr/>
      </dsp:nvSpPr>
      <dsp:spPr>
        <a:xfrm>
          <a:off x="0" y="2261132"/>
          <a:ext cx="8195871" cy="671580"/>
        </a:xfrm>
        <a:prstGeom prst="roundRect">
          <a:avLst/>
        </a:prstGeom>
        <a:solidFill>
          <a:schemeClr val="accent2">
            <a:hueOff val="3511140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- Housing affordability shifts</a:t>
          </a:r>
        </a:p>
      </dsp:txBody>
      <dsp:txXfrm>
        <a:off x="32784" y="2293916"/>
        <a:ext cx="8130303" cy="606012"/>
      </dsp:txXfrm>
    </dsp:sp>
    <dsp:sp modelId="{88858C80-3920-D748-99BA-FC8A23BD820F}">
      <dsp:nvSpPr>
        <dsp:cNvPr id="0" name=""/>
        <dsp:cNvSpPr/>
      </dsp:nvSpPr>
      <dsp:spPr>
        <a:xfrm>
          <a:off x="0" y="3013352"/>
          <a:ext cx="8195871" cy="671580"/>
        </a:xfrm>
        <a:prstGeom prst="round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How do these trends interact?</a:t>
          </a:r>
        </a:p>
      </dsp:txBody>
      <dsp:txXfrm>
        <a:off x="32784" y="3046136"/>
        <a:ext cx="8130303" cy="6060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C7F2F9-3026-426A-9E65-0D379C4771B4}">
      <dsp:nvSpPr>
        <dsp:cNvPr id="0" name=""/>
        <dsp:cNvSpPr/>
      </dsp:nvSpPr>
      <dsp:spPr>
        <a:xfrm>
          <a:off x="440175" y="727724"/>
          <a:ext cx="718242" cy="71824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86606D-CCED-49EA-A4C9-599DBDFB3D61}">
      <dsp:nvSpPr>
        <dsp:cNvPr id="0" name=""/>
        <dsp:cNvSpPr/>
      </dsp:nvSpPr>
      <dsp:spPr>
        <a:xfrm>
          <a:off x="1249" y="1685381"/>
          <a:ext cx="1596093" cy="63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hlinkClick xmlns:r="http://schemas.openxmlformats.org/officeDocument/2006/relationships" r:id="rId3"/>
            </a:rPr>
            <a:t>Dataset 1</a:t>
          </a:r>
          <a:r>
            <a:rPr lang="en-US" sz="1300" kern="1200" dirty="0"/>
            <a:t>: Birth Rates (1960–2023)</a:t>
          </a:r>
        </a:p>
      </dsp:txBody>
      <dsp:txXfrm>
        <a:off x="1249" y="1685381"/>
        <a:ext cx="1596093" cy="638437"/>
      </dsp:txXfrm>
    </dsp:sp>
    <dsp:sp modelId="{907C63AB-BE1C-4163-ABA7-35F79AAFB6A7}">
      <dsp:nvSpPr>
        <dsp:cNvPr id="0" name=""/>
        <dsp:cNvSpPr/>
      </dsp:nvSpPr>
      <dsp:spPr>
        <a:xfrm>
          <a:off x="2315585" y="727724"/>
          <a:ext cx="718242" cy="718242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4B18F9-F2E8-4061-BF10-2AB96171C163}">
      <dsp:nvSpPr>
        <dsp:cNvPr id="0" name=""/>
        <dsp:cNvSpPr/>
      </dsp:nvSpPr>
      <dsp:spPr>
        <a:xfrm>
          <a:off x="1876659" y="1685381"/>
          <a:ext cx="1596093" cy="63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hlinkClick xmlns:r="http://schemas.openxmlformats.org/officeDocument/2006/relationships" r:id="rId6"/>
            </a:rPr>
            <a:t>Dataset 2</a:t>
          </a:r>
          <a:r>
            <a:rPr lang="en-US" sz="1300" kern="1200" dirty="0"/>
            <a:t>: Immigration &amp; PR Stats</a:t>
          </a:r>
        </a:p>
      </dsp:txBody>
      <dsp:txXfrm>
        <a:off x="1876659" y="1685381"/>
        <a:ext cx="1596093" cy="638437"/>
      </dsp:txXfrm>
    </dsp:sp>
    <dsp:sp modelId="{F37257D4-FB8D-426C-8819-B2EC26ECEA61}">
      <dsp:nvSpPr>
        <dsp:cNvPr id="0" name=""/>
        <dsp:cNvSpPr/>
      </dsp:nvSpPr>
      <dsp:spPr>
        <a:xfrm>
          <a:off x="4190995" y="727724"/>
          <a:ext cx="718242" cy="71824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98732B-5E30-4647-9F69-B3BEF189D255}">
      <dsp:nvSpPr>
        <dsp:cNvPr id="0" name=""/>
        <dsp:cNvSpPr/>
      </dsp:nvSpPr>
      <dsp:spPr>
        <a:xfrm>
          <a:off x="3752069" y="1685381"/>
          <a:ext cx="1596093" cy="63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hlinkClick xmlns:r="http://schemas.openxmlformats.org/officeDocument/2006/relationships" r:id="rId9"/>
            </a:rPr>
            <a:t>Dataset 3</a:t>
          </a:r>
          <a:r>
            <a:rPr lang="en-US" sz="1300" kern="1200" dirty="0"/>
            <a:t>: HDB Resale Prices</a:t>
          </a:r>
        </a:p>
      </dsp:txBody>
      <dsp:txXfrm>
        <a:off x="3752069" y="1685381"/>
        <a:ext cx="1596093" cy="638437"/>
      </dsp:txXfrm>
    </dsp:sp>
    <dsp:sp modelId="{5EC1CD3B-7E1E-47BF-BB13-93EFBE0800F9}">
      <dsp:nvSpPr>
        <dsp:cNvPr id="0" name=""/>
        <dsp:cNvSpPr/>
      </dsp:nvSpPr>
      <dsp:spPr>
        <a:xfrm>
          <a:off x="6066405" y="727724"/>
          <a:ext cx="718242" cy="718242"/>
        </a:xfrm>
        <a:prstGeom prst="rect">
          <a:avLst/>
        </a:prstGeom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926163-C098-489A-A311-25BABDF9DD28}">
      <dsp:nvSpPr>
        <dsp:cNvPr id="0" name=""/>
        <dsp:cNvSpPr/>
      </dsp:nvSpPr>
      <dsp:spPr>
        <a:xfrm>
          <a:off x="5627479" y="1685381"/>
          <a:ext cx="1596093" cy="63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Clean, official, structured data.</a:t>
          </a:r>
        </a:p>
      </dsp:txBody>
      <dsp:txXfrm>
        <a:off x="5627479" y="1685381"/>
        <a:ext cx="1596093" cy="63843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2A7161-3964-884A-84A4-E41D51C5115A}">
      <dsp:nvSpPr>
        <dsp:cNvPr id="0" name=""/>
        <dsp:cNvSpPr/>
      </dsp:nvSpPr>
      <dsp:spPr>
        <a:xfrm>
          <a:off x="0" y="180378"/>
          <a:ext cx="5175384" cy="5175384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501999-16D8-364D-B037-F48DD03394EF}">
      <dsp:nvSpPr>
        <dsp:cNvPr id="0" name=""/>
        <dsp:cNvSpPr/>
      </dsp:nvSpPr>
      <dsp:spPr>
        <a:xfrm>
          <a:off x="491661" y="672039"/>
          <a:ext cx="2018399" cy="20183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1. Birth rates falling for decades</a:t>
          </a:r>
        </a:p>
      </dsp:txBody>
      <dsp:txXfrm>
        <a:off x="590191" y="770569"/>
        <a:ext cx="1821339" cy="1821339"/>
      </dsp:txXfrm>
    </dsp:sp>
    <dsp:sp modelId="{FC383A5F-467F-224F-91F1-0572B85A267C}">
      <dsp:nvSpPr>
        <dsp:cNvPr id="0" name=""/>
        <dsp:cNvSpPr/>
      </dsp:nvSpPr>
      <dsp:spPr>
        <a:xfrm>
          <a:off x="2665322" y="672039"/>
          <a:ext cx="2018399" cy="201839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2. Immigration rises when births drop</a:t>
          </a:r>
        </a:p>
      </dsp:txBody>
      <dsp:txXfrm>
        <a:off x="2763852" y="770569"/>
        <a:ext cx="1821339" cy="1821339"/>
      </dsp:txXfrm>
    </dsp:sp>
    <dsp:sp modelId="{27ED4DAE-B12D-324A-B17F-5A24104BBC1D}">
      <dsp:nvSpPr>
        <dsp:cNvPr id="0" name=""/>
        <dsp:cNvSpPr/>
      </dsp:nvSpPr>
      <dsp:spPr>
        <a:xfrm>
          <a:off x="491661" y="2845701"/>
          <a:ext cx="2018399" cy="201839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3. HDB resale prices continue rising</a:t>
          </a:r>
        </a:p>
      </dsp:txBody>
      <dsp:txXfrm>
        <a:off x="590191" y="2944231"/>
        <a:ext cx="1821339" cy="1821339"/>
      </dsp:txXfrm>
    </dsp:sp>
    <dsp:sp modelId="{8B415930-4410-0C48-A9CC-A1C15282909E}">
      <dsp:nvSpPr>
        <dsp:cNvPr id="0" name=""/>
        <dsp:cNvSpPr/>
      </dsp:nvSpPr>
      <dsp:spPr>
        <a:xfrm>
          <a:off x="2665322" y="2845701"/>
          <a:ext cx="2018399" cy="201839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Immigration stabilises population → supports housing demand.</a:t>
          </a:r>
        </a:p>
      </dsp:txBody>
      <dsp:txXfrm>
        <a:off x="2763852" y="2944231"/>
        <a:ext cx="1821339" cy="182133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A82BC3-2621-4ABC-9938-03A5B99C5145}">
      <dsp:nvSpPr>
        <dsp:cNvPr id="0" name=""/>
        <dsp:cNvSpPr/>
      </dsp:nvSpPr>
      <dsp:spPr>
        <a:xfrm>
          <a:off x="0" y="955306"/>
          <a:ext cx="4726201" cy="176364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E384D0-53F3-4AED-8253-4A9261218256}">
      <dsp:nvSpPr>
        <dsp:cNvPr id="0" name=""/>
        <dsp:cNvSpPr/>
      </dsp:nvSpPr>
      <dsp:spPr>
        <a:xfrm>
          <a:off x="533501" y="1352126"/>
          <a:ext cx="970003" cy="9700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CEAFB2-8A95-45D2-8F09-7E9CA5A981E3}">
      <dsp:nvSpPr>
        <dsp:cNvPr id="0" name=""/>
        <dsp:cNvSpPr/>
      </dsp:nvSpPr>
      <dsp:spPr>
        <a:xfrm>
          <a:off x="2037007" y="955306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Simple forecast using birth rates, immigration, HDB prices.</a:t>
          </a:r>
        </a:p>
      </dsp:txBody>
      <dsp:txXfrm>
        <a:off x="2037007" y="955306"/>
        <a:ext cx="2689193" cy="1763642"/>
      </dsp:txXfrm>
    </dsp:sp>
    <dsp:sp modelId="{FD47B30F-5D29-4F88-AE87-50B893269E89}">
      <dsp:nvSpPr>
        <dsp:cNvPr id="0" name=""/>
        <dsp:cNvSpPr/>
      </dsp:nvSpPr>
      <dsp:spPr>
        <a:xfrm>
          <a:off x="0" y="3159859"/>
          <a:ext cx="4726201" cy="176364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4D5CD5-88F3-439E-B534-ED148B46996D}">
      <dsp:nvSpPr>
        <dsp:cNvPr id="0" name=""/>
        <dsp:cNvSpPr/>
      </dsp:nvSpPr>
      <dsp:spPr>
        <a:xfrm>
          <a:off x="533501" y="3556679"/>
          <a:ext cx="970003" cy="9700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8D38E0-894F-4CC7-9D9B-48DF58ABE70C}">
      <dsp:nvSpPr>
        <dsp:cNvPr id="0" name=""/>
        <dsp:cNvSpPr/>
      </dsp:nvSpPr>
      <dsp:spPr>
        <a:xfrm>
          <a:off x="2037007" y="3159859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Prediction: Immigration will continue driving population &amp; housing stability.</a:t>
          </a:r>
        </a:p>
      </dsp:txBody>
      <dsp:txXfrm>
        <a:off x="2037007" y="3159859"/>
        <a:ext cx="2689193" cy="176364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584C90-3341-DD45-B92E-DDBE153493BE}">
      <dsp:nvSpPr>
        <dsp:cNvPr id="0" name=""/>
        <dsp:cNvSpPr/>
      </dsp:nvSpPr>
      <dsp:spPr>
        <a:xfrm>
          <a:off x="0" y="69192"/>
          <a:ext cx="4726201" cy="7435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Strengths:</a:t>
          </a:r>
        </a:p>
      </dsp:txBody>
      <dsp:txXfrm>
        <a:off x="36296" y="105488"/>
        <a:ext cx="4653609" cy="670943"/>
      </dsp:txXfrm>
    </dsp:sp>
    <dsp:sp modelId="{25F84E82-7AD1-2C4D-B12D-E7E29433758E}">
      <dsp:nvSpPr>
        <dsp:cNvPr id="0" name=""/>
        <dsp:cNvSpPr/>
      </dsp:nvSpPr>
      <dsp:spPr>
        <a:xfrm>
          <a:off x="0" y="902007"/>
          <a:ext cx="4726201" cy="743535"/>
        </a:xfrm>
        <a:prstGeom prst="roundRect">
          <a:avLst/>
        </a:prstGeom>
        <a:solidFill>
          <a:schemeClr val="accent2">
            <a:hueOff val="780253"/>
            <a:satOff val="-973"/>
            <a:lumOff val="22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- Clean datasets</a:t>
          </a:r>
        </a:p>
      </dsp:txBody>
      <dsp:txXfrm>
        <a:off x="36296" y="938303"/>
        <a:ext cx="4653609" cy="670943"/>
      </dsp:txXfrm>
    </dsp:sp>
    <dsp:sp modelId="{D28A3D68-133D-F146-AA8A-299DE0B8B4B7}">
      <dsp:nvSpPr>
        <dsp:cNvPr id="0" name=""/>
        <dsp:cNvSpPr/>
      </dsp:nvSpPr>
      <dsp:spPr>
        <a:xfrm>
          <a:off x="0" y="1734822"/>
          <a:ext cx="4726201" cy="743535"/>
        </a:xfrm>
        <a:prstGeom prst="roundRect">
          <a:avLst/>
        </a:prstGeom>
        <a:solidFill>
          <a:schemeClr val="accent2">
            <a:hueOff val="1560507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- Strong long-term trends</a:t>
          </a:r>
        </a:p>
      </dsp:txBody>
      <dsp:txXfrm>
        <a:off x="36296" y="1771118"/>
        <a:ext cx="4653609" cy="670943"/>
      </dsp:txXfrm>
    </dsp:sp>
    <dsp:sp modelId="{A297CD41-B535-AA46-8E4E-BC284BAAA4A6}">
      <dsp:nvSpPr>
        <dsp:cNvPr id="0" name=""/>
        <dsp:cNvSpPr/>
      </dsp:nvSpPr>
      <dsp:spPr>
        <a:xfrm>
          <a:off x="0" y="2567637"/>
          <a:ext cx="4726201" cy="743535"/>
        </a:xfrm>
        <a:prstGeom prst="roundRect">
          <a:avLst/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Limitations:</a:t>
          </a:r>
        </a:p>
      </dsp:txBody>
      <dsp:txXfrm>
        <a:off x="36296" y="2603933"/>
        <a:ext cx="4653609" cy="670943"/>
      </dsp:txXfrm>
    </dsp:sp>
    <dsp:sp modelId="{BE598701-415A-664A-9A47-3132CBF04FAE}">
      <dsp:nvSpPr>
        <dsp:cNvPr id="0" name=""/>
        <dsp:cNvSpPr/>
      </dsp:nvSpPr>
      <dsp:spPr>
        <a:xfrm>
          <a:off x="0" y="3400452"/>
          <a:ext cx="4726201" cy="743535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- Policy shifts</a:t>
          </a:r>
        </a:p>
      </dsp:txBody>
      <dsp:txXfrm>
        <a:off x="36296" y="3436748"/>
        <a:ext cx="4653609" cy="670943"/>
      </dsp:txXfrm>
    </dsp:sp>
    <dsp:sp modelId="{A3264D7C-D707-C84A-9A20-0DA43731C9F2}">
      <dsp:nvSpPr>
        <dsp:cNvPr id="0" name=""/>
        <dsp:cNvSpPr/>
      </dsp:nvSpPr>
      <dsp:spPr>
        <a:xfrm>
          <a:off x="0" y="4233267"/>
          <a:ext cx="4726201" cy="743535"/>
        </a:xfrm>
        <a:prstGeom prst="roundRect">
          <a:avLst/>
        </a:prstGeom>
        <a:solidFill>
          <a:schemeClr val="accent2">
            <a:hueOff val="3901266"/>
            <a:satOff val="-4866"/>
            <a:lumOff val="114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- Economic cycles</a:t>
          </a:r>
        </a:p>
      </dsp:txBody>
      <dsp:txXfrm>
        <a:off x="36296" y="4269563"/>
        <a:ext cx="4653609" cy="670943"/>
      </dsp:txXfrm>
    </dsp:sp>
    <dsp:sp modelId="{AFE2C205-FF65-EC45-B442-5CC24D7A8B80}">
      <dsp:nvSpPr>
        <dsp:cNvPr id="0" name=""/>
        <dsp:cNvSpPr/>
      </dsp:nvSpPr>
      <dsp:spPr>
        <a:xfrm>
          <a:off x="0" y="5066081"/>
          <a:ext cx="4726201" cy="743535"/>
        </a:xfrm>
        <a:prstGeom prst="round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- Correlation ≠ causation</a:t>
          </a:r>
        </a:p>
      </dsp:txBody>
      <dsp:txXfrm>
        <a:off x="36296" y="5102377"/>
        <a:ext cx="4653609" cy="67094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30D2B6-E087-C94E-A157-711297E42BFF}">
      <dsp:nvSpPr>
        <dsp:cNvPr id="0" name=""/>
        <dsp:cNvSpPr/>
      </dsp:nvSpPr>
      <dsp:spPr>
        <a:xfrm>
          <a:off x="0" y="0"/>
          <a:ext cx="472620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CA9746-4614-C244-921B-71DC8756F948}">
      <dsp:nvSpPr>
        <dsp:cNvPr id="0" name=""/>
        <dsp:cNvSpPr/>
      </dsp:nvSpPr>
      <dsp:spPr>
        <a:xfrm>
          <a:off x="0" y="0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1. Align workforce planning with birth trends</a:t>
          </a:r>
        </a:p>
      </dsp:txBody>
      <dsp:txXfrm>
        <a:off x="0" y="0"/>
        <a:ext cx="4726201" cy="1469702"/>
      </dsp:txXfrm>
    </dsp:sp>
    <dsp:sp modelId="{E25A14FF-1C9E-B748-9B6B-3C315A1D7F7C}">
      <dsp:nvSpPr>
        <dsp:cNvPr id="0" name=""/>
        <dsp:cNvSpPr/>
      </dsp:nvSpPr>
      <dsp:spPr>
        <a:xfrm>
          <a:off x="0" y="1469702"/>
          <a:ext cx="4726201" cy="0"/>
        </a:xfrm>
        <a:prstGeom prst="line">
          <a:avLst/>
        </a:prstGeom>
        <a:solidFill>
          <a:schemeClr val="accent2">
            <a:hueOff val="1560507"/>
            <a:satOff val="-1946"/>
            <a:lumOff val="458"/>
            <a:alphaOff val="0"/>
          </a:schemeClr>
        </a:solidFill>
        <a:ln w="25400" cap="flat" cmpd="sng" algn="ctr">
          <a:solidFill>
            <a:schemeClr val="accent2">
              <a:hueOff val="1560507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6106DC-8196-9A48-BD43-2276867490D5}">
      <dsp:nvSpPr>
        <dsp:cNvPr id="0" name=""/>
        <dsp:cNvSpPr/>
      </dsp:nvSpPr>
      <dsp:spPr>
        <a:xfrm>
          <a:off x="0" y="1469702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2. Strategic immigration planning</a:t>
          </a:r>
        </a:p>
      </dsp:txBody>
      <dsp:txXfrm>
        <a:off x="0" y="1469702"/>
        <a:ext cx="4726201" cy="1469702"/>
      </dsp:txXfrm>
    </dsp:sp>
    <dsp:sp modelId="{4FE2E07F-833D-1940-9A40-2262798F6773}">
      <dsp:nvSpPr>
        <dsp:cNvPr id="0" name=""/>
        <dsp:cNvSpPr/>
      </dsp:nvSpPr>
      <dsp:spPr>
        <a:xfrm>
          <a:off x="0" y="2939404"/>
          <a:ext cx="4726201" cy="0"/>
        </a:xfrm>
        <a:prstGeom prst="line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132575-593F-4449-A85C-AF4795A18B2F}">
      <dsp:nvSpPr>
        <dsp:cNvPr id="0" name=""/>
        <dsp:cNvSpPr/>
      </dsp:nvSpPr>
      <dsp:spPr>
        <a:xfrm>
          <a:off x="0" y="2939404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3. Monitor HDB affordability</a:t>
          </a:r>
        </a:p>
      </dsp:txBody>
      <dsp:txXfrm>
        <a:off x="0" y="2939404"/>
        <a:ext cx="4726201" cy="1469702"/>
      </dsp:txXfrm>
    </dsp:sp>
    <dsp:sp modelId="{4C86957C-D963-7141-803A-7E83C47E2B81}">
      <dsp:nvSpPr>
        <dsp:cNvPr id="0" name=""/>
        <dsp:cNvSpPr/>
      </dsp:nvSpPr>
      <dsp:spPr>
        <a:xfrm>
          <a:off x="0" y="4409106"/>
          <a:ext cx="4726201" cy="0"/>
        </a:xfrm>
        <a:prstGeom prst="line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20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5FA5FD-496E-4E42-87AD-474588488E74}">
      <dsp:nvSpPr>
        <dsp:cNvPr id="0" name=""/>
        <dsp:cNvSpPr/>
      </dsp:nvSpPr>
      <dsp:spPr>
        <a:xfrm>
          <a:off x="0" y="4409106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Conclusion: These trends shape Singapore’s future.</a:t>
          </a:r>
        </a:p>
      </dsp:txBody>
      <dsp:txXfrm>
        <a:off x="0" y="4409106"/>
        <a:ext cx="4726201" cy="14697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6AC310-365F-E145-9E36-C5DBD008C04A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90FAE0-181E-C340-BF21-F7C0091899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1919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My project looks at three long-term trends in Singapore: birth rates, immigration, and HDB resale prices. </a:t>
            </a:r>
          </a:p>
          <a:p>
            <a:r>
              <a:rPr lang="en-SG" dirty="0"/>
              <a:t>These trends tend to be discussed separately, but they actually influence one another.</a:t>
            </a:r>
          </a:p>
          <a:p>
            <a:r>
              <a:rPr lang="en-SG" dirty="0"/>
              <a:t>My goal was to understand how they interact, and what that means for Singapore’s population and housing outlook.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0FAE0-181E-C340-BF21-F7C0091899E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1718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Birth rates keep falling, immigration keeps rising, and HDB prices stay strong. I wanted to see how these three patterns relate.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0FAE0-181E-C340-BF21-F7C0091899E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67358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I choose three </a:t>
            </a:r>
            <a:r>
              <a:rPr lang="en-SG" dirty="0" err="1"/>
              <a:t>kinda</a:t>
            </a:r>
            <a:r>
              <a:rPr lang="en-SG" dirty="0"/>
              <a:t> clean datasets: birth-rate data from </a:t>
            </a:r>
            <a:r>
              <a:rPr lang="en-SG" dirty="0" err="1"/>
              <a:t>SingStat</a:t>
            </a:r>
            <a:r>
              <a:rPr lang="en-SG" dirty="0"/>
              <a:t>, immigration numbers from ICA, and HDB resale prices from </a:t>
            </a:r>
            <a:r>
              <a:rPr lang="en-SG" dirty="0" err="1"/>
              <a:t>data.gov.sg</a:t>
            </a:r>
            <a:r>
              <a:rPr lang="en-SG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0FAE0-181E-C340-BF21-F7C0091899E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72350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Birth rates have dropped for decades. Immigration usually rises to balance the population. And HDB resale prices continue climbing because demand comes mainly from working adults and new residents.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0FAE0-181E-C340-BF21-F7C0091899E5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61327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I want to build a simple forecast. If birth rates stay low, Singapore will rely more on immigration. And with stable immigration, HDB demand should stay strong.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0FAE0-181E-C340-BF21-F7C0091899E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96570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Strengths: </a:t>
            </a:r>
            <a:r>
              <a:rPr lang="en-SG"/>
              <a:t>clean data and </a:t>
            </a:r>
            <a:r>
              <a:rPr lang="en-SG" dirty="0"/>
              <a:t>clear trends.</a:t>
            </a:r>
            <a:br>
              <a:rPr lang="en-SG" dirty="0"/>
            </a:br>
            <a:r>
              <a:rPr lang="en-SG" dirty="0"/>
              <a:t>Limitations: policies and the economy can change suddenly, and correlation doesn’t mean causation.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0FAE0-181E-C340-BF21-F7C0091899E5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49483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Plan long-term workforce needs, use immigration strategically, monitor housing affordability, and collect more detailed birth-rate data.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0FAE0-181E-C340-BF21-F7C0091899E5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49605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Woof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0FAE0-181E-C340-BF21-F7C0091899E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9743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SG" dirty="0">
                <a:solidFill>
                  <a:schemeClr val="bg1"/>
                </a:solidFill>
              </a:rPr>
              <a:t>Meow</a:t>
            </a:r>
          </a:p>
        </p:txBody>
      </p:sp>
      <p:grpSp>
        <p:nvGrpSpPr>
          <p:cNvPr id="47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25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9" name="Oval 48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2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63B9B35-5F9D-98EB-C2E3-5D423490EE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2002017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SG" sz="3500">
                <a:solidFill>
                  <a:srgbClr val="FFFFFF"/>
                </a:solidFill>
              </a:rPr>
              <a:t>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53263F1-D5C5-E2CB-D6B4-22BBEB7106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8615076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63038BC-9FCB-466B-8EE5-7B0DC8F25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8F4797-C77D-4821-B8FF-057D7524C6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90CB3DB-B42E-47BF-A595-527CB329A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636" y="685800"/>
            <a:ext cx="8100728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7179" y="1036674"/>
            <a:ext cx="6969642" cy="1371600"/>
          </a:xfrm>
        </p:spPr>
        <p:txBody>
          <a:bodyPr>
            <a:normAutofit/>
          </a:bodyPr>
          <a:lstStyle/>
          <a:p>
            <a:r>
              <a:rPr lang="en-SG" sz="2800">
                <a:solidFill>
                  <a:schemeClr val="tx1">
                    <a:lumMod val="65000"/>
                    <a:lumOff val="35000"/>
                  </a:schemeClr>
                </a:solidFill>
              </a:rPr>
              <a:t>Data Sources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A304791-56F4-6EE8-1B73-6264C9105D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2299753"/>
              </p:ext>
            </p:extLst>
          </p:nvPr>
        </p:nvGraphicFramePr>
        <p:xfrm>
          <a:off x="959588" y="2716620"/>
          <a:ext cx="7224823" cy="3051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SG" sz="4700"/>
              <a:t>Key Patterns &amp; Insights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1BC22C-C512-C994-BA76-4050C422FC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6432529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SG" sz="4100">
                <a:solidFill>
                  <a:schemeClr val="bg1"/>
                </a:solidFill>
              </a:rPr>
              <a:t>Predictive Model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7AF523-F335-EF52-BE93-448067E985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9951361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SG" sz="3700">
                <a:solidFill>
                  <a:schemeClr val="bg1"/>
                </a:solidFill>
              </a:rPr>
              <a:t>Strengths &amp; Limitations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D5E65DF-CDA8-13FE-E93F-41602212DF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2376284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SG" sz="2100">
                <a:solidFill>
                  <a:schemeClr val="bg1"/>
                </a:solidFill>
              </a:rPr>
              <a:t>Conclusion &amp; Recommendations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25ABAFA-EE65-7AB9-F64C-A63CEBE048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1209022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9144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3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23C303F-34B8-A371-569C-D387010A8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1120676"/>
            <a:ext cx="5266135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63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&lt;END&gt;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2583C-3CB9-2055-D7A3-49458610D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268" y="3809999"/>
            <a:ext cx="5269314" cy="101277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Okay Thank You, Bye!</a:t>
            </a:r>
          </a:p>
        </p:txBody>
      </p:sp>
    </p:spTree>
    <p:extLst>
      <p:ext uri="{BB962C8B-B14F-4D97-AF65-F5344CB8AC3E}">
        <p14:creationId xmlns:p14="http://schemas.microsoft.com/office/powerpoint/2010/main" val="3970496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425</Words>
  <Application>Microsoft Macintosh PowerPoint</Application>
  <PresentationFormat>On-screen Show (4:3)</PresentationFormat>
  <Paragraphs>56</Paragraphs>
  <Slides>8</Slides>
  <Notes>8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Meow</vt:lpstr>
      <vt:lpstr>Problem Statement</vt:lpstr>
      <vt:lpstr>Data Sources</vt:lpstr>
      <vt:lpstr>Key Patterns &amp; Insights</vt:lpstr>
      <vt:lpstr>Predictive Model</vt:lpstr>
      <vt:lpstr>Strengths &amp; Limitations</vt:lpstr>
      <vt:lpstr>Conclusion &amp; Recommendations</vt:lpstr>
      <vt:lpstr>&lt;END&gt;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339</cp:lastModifiedBy>
  <cp:revision>7</cp:revision>
  <dcterms:created xsi:type="dcterms:W3CDTF">2013-01-27T09:14:16Z</dcterms:created>
  <dcterms:modified xsi:type="dcterms:W3CDTF">2025-11-29T03:12:15Z</dcterms:modified>
  <cp:category/>
</cp:coreProperties>
</file>